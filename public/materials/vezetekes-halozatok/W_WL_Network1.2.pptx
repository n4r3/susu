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41" r:id="rId2"/>
    <p:sldId id="278" r:id="rId3"/>
    <p:sldId id="256" r:id="rId4"/>
    <p:sldId id="266" r:id="rId5"/>
    <p:sldId id="263" r:id="rId6"/>
    <p:sldId id="272" r:id="rId7"/>
    <p:sldId id="411" r:id="rId8"/>
    <p:sldId id="415" r:id="rId9"/>
    <p:sldId id="279" r:id="rId10"/>
    <p:sldId id="287" r:id="rId11"/>
    <p:sldId id="292" r:id="rId12"/>
    <p:sldId id="296" r:id="rId13"/>
    <p:sldId id="258" r:id="rId14"/>
    <p:sldId id="297" r:id="rId15"/>
    <p:sldId id="299" r:id="rId16"/>
    <p:sldId id="306" r:id="rId17"/>
    <p:sldId id="310" r:id="rId18"/>
    <p:sldId id="314" r:id="rId19"/>
    <p:sldId id="322" r:id="rId20"/>
    <p:sldId id="437" r:id="rId21"/>
    <p:sldId id="303" r:id="rId22"/>
    <p:sldId id="323" r:id="rId23"/>
    <p:sldId id="324" r:id="rId24"/>
    <p:sldId id="325" r:id="rId25"/>
    <p:sldId id="326" r:id="rId26"/>
    <p:sldId id="327" r:id="rId27"/>
    <p:sldId id="335" r:id="rId28"/>
    <p:sldId id="434" r:id="rId29"/>
    <p:sldId id="342" r:id="rId30"/>
    <p:sldId id="345" r:id="rId31"/>
    <p:sldId id="444" r:id="rId32"/>
    <p:sldId id="418" r:id="rId33"/>
    <p:sldId id="413" r:id="rId34"/>
    <p:sldId id="414" r:id="rId35"/>
    <p:sldId id="355" r:id="rId36"/>
    <p:sldId id="363" r:id="rId37"/>
    <p:sldId id="438" r:id="rId38"/>
    <p:sldId id="370" r:id="rId39"/>
    <p:sldId id="381" r:id="rId40"/>
    <p:sldId id="373" r:id="rId41"/>
    <p:sldId id="387" r:id="rId42"/>
    <p:sldId id="393" r:id="rId43"/>
    <p:sldId id="395" r:id="rId44"/>
    <p:sldId id="396" r:id="rId45"/>
    <p:sldId id="397" r:id="rId46"/>
  </p:sldIdLst>
  <p:sldSz cx="12192000" cy="6858000"/>
  <p:notesSz cx="6858000" cy="9144000"/>
  <p:defaultTextStyle>
    <a:defPPr>
      <a:defRPr lang="hu-HU"/>
    </a:defPPr>
    <a:lvl1pPr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00FF"/>
    <a:srgbClr val="FFFF66"/>
    <a:srgbClr val="33CC33"/>
    <a:srgbClr val="C0C0C0"/>
    <a:srgbClr val="FF3300"/>
    <a:srgbClr val="777777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88" autoAdjust="0"/>
    <p:restoredTop sz="94660" autoAdjust="0"/>
  </p:normalViewPr>
  <p:slideViewPr>
    <p:cSldViewPr snapToGrid="0">
      <p:cViewPr varScale="1">
        <p:scale>
          <a:sx n="125" d="100"/>
          <a:sy n="125" d="100"/>
        </p:scale>
        <p:origin x="126" y="2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6AE5542-6F71-47D3-81BD-4C43A4555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74800-4732-4F9B-B758-A5BB34814918}" type="datetimeFigureOut">
              <a:rPr lang="hu-HU"/>
              <a:pPr>
                <a:defRPr/>
              </a:pPr>
              <a:t>2026. 03. 12.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8DF69A2-611B-47CD-AC03-937650F8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93E9E9A-2A09-47A2-8AE8-00C56C102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CB082-3821-4ED3-8916-0BB98142F173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69702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AFF38A6-F0A1-4363-B06D-DBAE0BAB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CB553-093A-4573-AF22-EC75E4EBA965}" type="datetimeFigureOut">
              <a:rPr lang="hu-HU"/>
              <a:pPr>
                <a:defRPr/>
              </a:pPr>
              <a:t>2026. 03. 12.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27A8F95-47C3-4E41-8AE3-81EE8F9BF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DEAAB44-8975-45FB-978C-24909381E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CC46C-D172-47E7-8F0B-15C47FC4DEA6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402837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2045E4E-82BB-4768-B4F8-0896B745B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99FF19-1D64-42CF-862E-2AC6561988E1}" type="datetimeFigureOut">
              <a:rPr lang="hu-HU"/>
              <a:pPr>
                <a:defRPr/>
              </a:pPr>
              <a:t>2026. 03. 12.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9ADA2AF-17EF-4FDD-B8C6-5772FD66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16C94E8-2F99-498C-9872-4571DA29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A8728D-8E86-43E3-8B5E-2A715E562B06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4055591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3">
            <a:extLst>
              <a:ext uri="{FF2B5EF4-FFF2-40B4-BE49-F238E27FC236}">
                <a16:creationId xmlns:a16="http://schemas.microsoft.com/office/drawing/2014/main" id="{70E578D1-9EE5-4E8F-A21B-924B6AA0D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D1AC9-6D3E-4125-9F44-09B3BDFBFC90}" type="datetimeFigureOut">
              <a:rPr lang="hu-HU"/>
              <a:pPr>
                <a:defRPr/>
              </a:pPr>
              <a:t>2026. 03. 12.</a:t>
            </a:fld>
            <a:endParaRPr lang="hu-HU"/>
          </a:p>
        </p:txBody>
      </p:sp>
      <p:sp>
        <p:nvSpPr>
          <p:cNvPr id="6" name="Élőláb helye 4">
            <a:extLst>
              <a:ext uri="{FF2B5EF4-FFF2-40B4-BE49-F238E27FC236}">
                <a16:creationId xmlns:a16="http://schemas.microsoft.com/office/drawing/2014/main" id="{EB80A68A-92A5-4EC2-8872-690216746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2A6B2236-9030-4D7C-AE27-8CF9E1153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EF0D84-4198-4874-AF46-3DC882E83852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779261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3">
            <a:extLst>
              <a:ext uri="{FF2B5EF4-FFF2-40B4-BE49-F238E27FC236}">
                <a16:creationId xmlns:a16="http://schemas.microsoft.com/office/drawing/2014/main" id="{19CE6B13-E075-4185-911D-0EC117B2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E9A26-7A66-4FB7-AF19-00564DA2BF1E}" type="datetimeFigureOut">
              <a:rPr lang="hu-HU"/>
              <a:pPr>
                <a:defRPr/>
              </a:pPr>
              <a:t>2026. 03. 12.</a:t>
            </a:fld>
            <a:endParaRPr lang="hu-HU"/>
          </a:p>
        </p:txBody>
      </p:sp>
      <p:sp>
        <p:nvSpPr>
          <p:cNvPr id="8" name="Élőláb helye 4">
            <a:extLst>
              <a:ext uri="{FF2B5EF4-FFF2-40B4-BE49-F238E27FC236}">
                <a16:creationId xmlns:a16="http://schemas.microsoft.com/office/drawing/2014/main" id="{270F8CF2-6CE4-4A8E-AB1F-AB9226D2B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9" name="Dia számának helye 5">
            <a:extLst>
              <a:ext uri="{FF2B5EF4-FFF2-40B4-BE49-F238E27FC236}">
                <a16:creationId xmlns:a16="http://schemas.microsoft.com/office/drawing/2014/main" id="{66CA066E-BA15-42E9-861B-197A4E480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81B9AE-E5B6-41A6-9BFD-B666E6FCF65A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728866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3">
            <a:extLst>
              <a:ext uri="{FF2B5EF4-FFF2-40B4-BE49-F238E27FC236}">
                <a16:creationId xmlns:a16="http://schemas.microsoft.com/office/drawing/2014/main" id="{27F56DBA-883B-4E0A-8330-EC1B0AD51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26FEE1-313F-4C62-ADF0-B62CCD61BFBC}" type="datetimeFigureOut">
              <a:rPr lang="hu-HU"/>
              <a:pPr>
                <a:defRPr/>
              </a:pPr>
              <a:t>2026. 03. 12.</a:t>
            </a:fld>
            <a:endParaRPr lang="hu-HU"/>
          </a:p>
        </p:txBody>
      </p:sp>
      <p:sp>
        <p:nvSpPr>
          <p:cNvPr id="4" name="Élőláb helye 4">
            <a:extLst>
              <a:ext uri="{FF2B5EF4-FFF2-40B4-BE49-F238E27FC236}">
                <a16:creationId xmlns:a16="http://schemas.microsoft.com/office/drawing/2014/main" id="{B45CAA9E-2B85-4BA3-99A1-F20BAB54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5" name="Dia számának helye 5">
            <a:extLst>
              <a:ext uri="{FF2B5EF4-FFF2-40B4-BE49-F238E27FC236}">
                <a16:creationId xmlns:a16="http://schemas.microsoft.com/office/drawing/2014/main" id="{A96E0BE3-B96C-47BB-97B1-BD2607BC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949238-14DA-4981-A6CE-CFA92045E019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72412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3">
            <a:extLst>
              <a:ext uri="{FF2B5EF4-FFF2-40B4-BE49-F238E27FC236}">
                <a16:creationId xmlns:a16="http://schemas.microsoft.com/office/drawing/2014/main" id="{74E34C32-8873-4076-A43E-D437DC5F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E05D7E-E2A1-405C-90E3-544D400FB96C}" type="datetimeFigureOut">
              <a:rPr lang="hu-HU"/>
              <a:pPr>
                <a:defRPr/>
              </a:pPr>
              <a:t>2026. 03. 12.</a:t>
            </a:fld>
            <a:endParaRPr lang="hu-HU"/>
          </a:p>
        </p:txBody>
      </p:sp>
      <p:sp>
        <p:nvSpPr>
          <p:cNvPr id="3" name="Élőláb helye 4">
            <a:extLst>
              <a:ext uri="{FF2B5EF4-FFF2-40B4-BE49-F238E27FC236}">
                <a16:creationId xmlns:a16="http://schemas.microsoft.com/office/drawing/2014/main" id="{9DDDC18F-0EB0-4BAD-82C1-9D802DFB2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" name="Dia számának helye 5">
            <a:extLst>
              <a:ext uri="{FF2B5EF4-FFF2-40B4-BE49-F238E27FC236}">
                <a16:creationId xmlns:a16="http://schemas.microsoft.com/office/drawing/2014/main" id="{0334B0AF-2B85-42BC-9C42-EEA2120C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E8B78A-437B-4C56-A617-9D70CC10148A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92497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3">
            <a:extLst>
              <a:ext uri="{FF2B5EF4-FFF2-40B4-BE49-F238E27FC236}">
                <a16:creationId xmlns:a16="http://schemas.microsoft.com/office/drawing/2014/main" id="{61910F26-F18A-4AB6-97F0-B749D6565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620B75-588C-41B4-BC4D-9CBB5610BDF7}" type="datetimeFigureOut">
              <a:rPr lang="hu-HU"/>
              <a:pPr>
                <a:defRPr/>
              </a:pPr>
              <a:t>2026. 03. 12.</a:t>
            </a:fld>
            <a:endParaRPr lang="hu-HU"/>
          </a:p>
        </p:txBody>
      </p:sp>
      <p:sp>
        <p:nvSpPr>
          <p:cNvPr id="6" name="Élőláb helye 4">
            <a:extLst>
              <a:ext uri="{FF2B5EF4-FFF2-40B4-BE49-F238E27FC236}">
                <a16:creationId xmlns:a16="http://schemas.microsoft.com/office/drawing/2014/main" id="{31B22583-2AB7-4486-B3AC-000B537D2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1630E474-4B86-48FA-96FC-84FA53928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1DEFB2-6297-496C-BC94-D754B5CAEFF2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89795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u-HU" noProof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3">
            <a:extLst>
              <a:ext uri="{FF2B5EF4-FFF2-40B4-BE49-F238E27FC236}">
                <a16:creationId xmlns:a16="http://schemas.microsoft.com/office/drawing/2014/main" id="{6037396F-5B03-4735-8991-5FACC3201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319EE-CAE3-4F3E-83A8-D4DFC9E80AFC}" type="datetimeFigureOut">
              <a:rPr lang="hu-HU"/>
              <a:pPr>
                <a:defRPr/>
              </a:pPr>
              <a:t>2026. 03. 12.</a:t>
            </a:fld>
            <a:endParaRPr lang="hu-HU"/>
          </a:p>
        </p:txBody>
      </p:sp>
      <p:sp>
        <p:nvSpPr>
          <p:cNvPr id="6" name="Élőláb helye 4">
            <a:extLst>
              <a:ext uri="{FF2B5EF4-FFF2-40B4-BE49-F238E27FC236}">
                <a16:creationId xmlns:a16="http://schemas.microsoft.com/office/drawing/2014/main" id="{1359FC6F-52DB-441E-9CE8-3763CB323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AF82B764-AB11-42B1-9743-DB04A837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457FD-5821-4B83-8E82-ABCBDCD300A4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603449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C73E4F3-DD28-4CC1-9363-56DCA9E6B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9B0D7-53BF-4790-84ED-73A3D53BE1EB}" type="datetimeFigureOut">
              <a:rPr lang="hu-HU"/>
              <a:pPr>
                <a:defRPr/>
              </a:pPr>
              <a:t>2026. 03. 12.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1DE6385-A94E-47E3-8AFB-F82D6016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F3AB308-ECDB-4ABB-AEA3-DE973500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C23BAA-28C8-4EB4-BC82-56CC483F4C67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25895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71CFAE6-AB04-40DB-83DC-54499C70A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BC1CD-CBA1-4B18-8CF9-5E0325400EC5}" type="datetimeFigureOut">
              <a:rPr lang="hu-HU"/>
              <a:pPr>
                <a:defRPr/>
              </a:pPr>
              <a:t>2026. 03. 12.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50E5800-CAE8-4D98-8273-EA408928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B0474B2-1A0C-4897-BF13-EAA4F86C3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5365C0-2D6E-42D6-9FFD-CF08F64160C8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625387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Cím helye 1">
            <a:extLst>
              <a:ext uri="{FF2B5EF4-FFF2-40B4-BE49-F238E27FC236}">
                <a16:creationId xmlns:a16="http://schemas.microsoft.com/office/drawing/2014/main" id="{74FFA028-EEDF-43FF-AFF6-2476B21E0E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/>
              <a:t>Mintacím szerkesztése</a:t>
            </a:r>
          </a:p>
        </p:txBody>
      </p:sp>
      <p:sp>
        <p:nvSpPr>
          <p:cNvPr id="1027" name="Szöveg helye 2">
            <a:extLst>
              <a:ext uri="{FF2B5EF4-FFF2-40B4-BE49-F238E27FC236}">
                <a16:creationId xmlns:a16="http://schemas.microsoft.com/office/drawing/2014/main" id="{D279FADD-12E8-43F9-967A-C8649DD936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/>
              <a:t>Mintaszöveg szerkesztése</a:t>
            </a:r>
          </a:p>
          <a:p>
            <a:pPr lvl="1"/>
            <a:r>
              <a:rPr lang="hu-HU" altLang="hu-HU"/>
              <a:t>Második szint</a:t>
            </a:r>
          </a:p>
          <a:p>
            <a:pPr lvl="2"/>
            <a:r>
              <a:rPr lang="hu-HU" altLang="hu-HU"/>
              <a:t>Harmadik szint</a:t>
            </a:r>
          </a:p>
          <a:p>
            <a:pPr lvl="3"/>
            <a:r>
              <a:rPr lang="hu-HU" altLang="hu-HU"/>
              <a:t>Negyedik szint</a:t>
            </a:r>
          </a:p>
          <a:p>
            <a:pPr lvl="4"/>
            <a:r>
              <a:rPr lang="hu-HU" alt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A6366F3-7715-4054-86E3-0A3F4FC3F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9C47004-F6CF-4533-9CFF-2331FAC86B39}" type="datetimeFigureOut">
              <a:rPr lang="hu-HU"/>
              <a:pPr>
                <a:defRPr/>
              </a:pPr>
              <a:t>2026. 03. 12.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AB1BDBC-D18E-4B56-9C08-8BD68E8E7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941EF51-E231-4C76-B8F0-A79A461D5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79CA7BEE-1BF1-42BC-9382-1D5753D718F6}" type="slidenum">
              <a:rPr lang="hu-HU" altLang="hu-HU"/>
              <a:pPr/>
              <a:t>‹#›</a:t>
            </a:fld>
            <a:endParaRPr lang="hu-HU" alt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E21BE-C528-60D0-03F0-AC0A63DD5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>
            <a:extLst>
              <a:ext uri="{FF2B5EF4-FFF2-40B4-BE49-F238E27FC236}">
                <a16:creationId xmlns:a16="http://schemas.microsoft.com/office/drawing/2014/main" id="{1D658AA4-8506-374B-CF46-B6A617923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38" y="316975"/>
            <a:ext cx="11302292" cy="621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  <a:t>Vízkémia,</a:t>
            </a:r>
            <a:b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  <a:t>biológia</a:t>
            </a:r>
            <a:b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alt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(Előkövetelmény: Vízi közművek)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endParaRPr lang="hu-HU" altLang="hu-H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hu-HU" altLang="hu-HU" sz="4000" dirty="0">
                <a:latin typeface="Arial" panose="020B0604020202020204" pitchFamily="34" charset="0"/>
                <a:cs typeface="Arial" panose="020B0604020202020204" pitchFamily="34" charset="0"/>
              </a:rPr>
              <a:t>YCWVÍBIBNF/</a:t>
            </a:r>
            <a:endParaRPr lang="hu-HU" altLang="hu-H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NB00</a:t>
            </a:r>
          </a:p>
          <a:p>
            <a:pPr lvl="2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NB01</a:t>
            </a:r>
          </a:p>
          <a:p>
            <a:pPr lvl="1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hu-HU" altLang="hu-H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2025-26 tavaszi félév</a:t>
            </a:r>
          </a:p>
        </p:txBody>
      </p:sp>
      <p:pic>
        <p:nvPicPr>
          <p:cNvPr id="3" name="Kép 2" descr="A képen Emberi szakáll, Emberi arc, portré, arcszőrzet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74DE2BD-637C-A27E-6581-82F6E6A1F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5301" y="2905246"/>
            <a:ext cx="1594608" cy="2476513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9BC01FC0-3F5E-BC30-3BF9-A7BBE7D79DF1}"/>
              </a:ext>
            </a:extLst>
          </p:cNvPr>
          <p:cNvSpPr txBox="1"/>
          <p:nvPr/>
        </p:nvSpPr>
        <p:spPr>
          <a:xfrm>
            <a:off x="9062979" y="5370649"/>
            <a:ext cx="236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Oktató:</a:t>
            </a: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Herman Károly Ottó</a:t>
            </a:r>
          </a:p>
        </p:txBody>
      </p:sp>
    </p:spTree>
    <p:extLst>
      <p:ext uri="{BB962C8B-B14F-4D97-AF65-F5344CB8AC3E}">
        <p14:creationId xmlns:p14="http://schemas.microsoft.com/office/powerpoint/2010/main" val="2883937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>
            <a:extLst>
              <a:ext uri="{FF2B5EF4-FFF2-40B4-BE49-F238E27FC236}">
                <a16:creationId xmlns:a16="http://schemas.microsoft.com/office/drawing/2014/main" id="{D63D7032-74ED-4CE9-94DB-502061FBD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38" y="316975"/>
            <a:ext cx="11302292" cy="621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  <a:t>Vezetékes</a:t>
            </a:r>
            <a:b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  <a:t>és vezeték nélküli</a:t>
            </a:r>
            <a:b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  <a:t>hálózatok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endParaRPr lang="hu-HU" altLang="hu-H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hu-HU" altLang="hu-HU" sz="4000" dirty="0">
                <a:latin typeface="Arial" panose="020B0604020202020204" pitchFamily="34" charset="0"/>
                <a:cs typeface="Arial" panose="020B0604020202020204" pitchFamily="34" charset="0"/>
              </a:rPr>
              <a:t>BBXVN12BNF/BBVN…</a:t>
            </a:r>
          </a:p>
          <a:p>
            <a:pPr lvl="2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</a:p>
          <a:p>
            <a:pPr lvl="2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GY1/GY2/GY3</a:t>
            </a:r>
          </a:p>
          <a:p>
            <a:pPr lvl="2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L1/L2/L3</a:t>
            </a:r>
          </a:p>
          <a:p>
            <a:pPr lvl="1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hu-HU" altLang="hu-H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2025-26 tavaszi félév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zövegdoboz 3">
            <a:extLst>
              <a:ext uri="{FF2B5EF4-FFF2-40B4-BE49-F238E27FC236}">
                <a16:creationId xmlns:a16="http://schemas.microsoft.com/office/drawing/2014/main" id="{838CEC5C-FA4D-498B-A504-474F6351C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225425"/>
            <a:ext cx="11155362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14400" indent="-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Oktató: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Bátori Endre György, mérnöktanár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Elérhetőség: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E-mail: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batori.endre@uni-obuda.hu </a:t>
            </a: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</a:t>
            </a:r>
            <a:endParaRPr lang="hu-HU" altLang="hu-HU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OE </a:t>
            </a:r>
            <a:r>
              <a:rPr lang="hu-HU" altLang="hu-HU" sz="4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Moodle</a:t>
            </a: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</a:t>
            </a:r>
            <a:endParaRPr lang="hu-HU" altLang="hu-HU" sz="4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Neptun</a:t>
            </a: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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N244 – felújítás alatt 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zövegdoboz 3">
            <a:extLst>
              <a:ext uri="{FF2B5EF4-FFF2-40B4-BE49-F238E27FC236}">
                <a16:creationId xmlns:a16="http://schemas.microsoft.com/office/drawing/2014/main" id="{59B094D5-0AF8-42A2-862A-8DE0AC582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252059"/>
            <a:ext cx="11155362" cy="649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14400" indent="-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Segédeszköz gyakorláshoz: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Cisco </a:t>
            </a:r>
            <a:r>
              <a:rPr lang="hu-HU" altLang="hu-HU" sz="4400" dirty="0" err="1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altLang="hu-HU" sz="4400" dirty="0" err="1">
                <a:latin typeface="Arial" panose="020B0604020202020204" pitchFamily="34" charset="0"/>
                <a:cs typeface="Arial" panose="020B0604020202020204" pitchFamily="34" charset="0"/>
              </a:rPr>
              <a:t>Tracer</a:t>
            </a: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https://www.netacad.com/about-networking-academy/packet-tracer/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000" dirty="0">
                <a:latin typeface="Arial" panose="020B0604020202020204" pitchFamily="34" charset="0"/>
                <a:cs typeface="Arial" panose="020B0604020202020204" pitchFamily="34" charset="0"/>
              </a:rPr>
              <a:t>„</a:t>
            </a:r>
            <a:r>
              <a:rPr lang="en-US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Sign up for Packet Tracer 101</a:t>
            </a: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” lehetőség választása után (regisztráció) szabadon használható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Tele van </a:t>
            </a:r>
            <a:r>
              <a:rPr lang="hu-HU" altLang="hu-HU" sz="3200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 megoldásokkal is, ami mechatronikai szempontból izgalmas, de nekünk most kevéssé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A MEI géptermekben az 5.2.0.0068 verzió található (nem kompatibilis a 8.## verziókkal), MKI géptermekben nem tudom, de nekünk idén nem jut gépterem </a:t>
            </a: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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Ez a régi verzió letölthető a </a:t>
            </a:r>
            <a:r>
              <a:rPr lang="hu-HU" altLang="hu-HU" sz="32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moodle</a:t>
            </a: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kurzusból (idővel…)</a:t>
            </a:r>
            <a:endParaRPr lang="hu-HU" altLang="hu-H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zövegdoboz 3">
            <a:extLst>
              <a:ext uri="{FF2B5EF4-FFF2-40B4-BE49-F238E27FC236}">
                <a16:creationId xmlns:a16="http://schemas.microsoft.com/office/drawing/2014/main" id="{647B1176-1C3E-4B9D-A877-3E9BB6D53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587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14400" indent="-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371600" indent="-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Arial" panose="020B0604020202020204" pitchFamily="34" charset="0"/>
                <a:cs typeface="Arial" panose="020B0604020202020204" pitchFamily="34" charset="0"/>
              </a:rPr>
              <a:t>Hálózat célja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Arial" panose="020B0604020202020204" pitchFamily="34" charset="0"/>
                <a:cs typeface="Arial" panose="020B0604020202020204" pitchFamily="34" charset="0"/>
              </a:rPr>
              <a:t>Hálózat fogalma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Arial" panose="020B0604020202020204" pitchFamily="34" charset="0"/>
                <a:cs typeface="Arial" panose="020B0604020202020204" pitchFamily="34" charset="0"/>
              </a:rPr>
              <a:t>Használati területek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Arial" panose="020B0604020202020204" pitchFamily="34" charset="0"/>
                <a:cs typeface="Arial" panose="020B0604020202020204" pitchFamily="34" charset="0"/>
              </a:rPr>
              <a:t>Informatikai folyamatok (5)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Arial" panose="020B0604020202020204" pitchFamily="34" charset="0"/>
                <a:cs typeface="Arial" panose="020B0604020202020204" pitchFamily="34" charset="0"/>
              </a:rPr>
              <a:t>Gyűjtés/tárolás/átalakítás/felhasználás és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Arial" panose="020B0604020202020204" pitchFamily="34" charset="0"/>
                <a:cs typeface="Arial" panose="020B0604020202020204" pitchFamily="34" charset="0"/>
              </a:rPr>
              <a:t>Információ szállítás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Arial" panose="020B0604020202020204" pitchFamily="34" charset="0"/>
                <a:cs typeface="Arial" panose="020B0604020202020204" pitchFamily="34" charset="0"/>
              </a:rPr>
              <a:t>Futár módszer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b="1" dirty="0">
                <a:latin typeface="Arial" panose="020B0604020202020204" pitchFamily="34" charset="0"/>
                <a:cs typeface="Arial" panose="020B0604020202020204" pitchFamily="34" charset="0"/>
              </a:rPr>
              <a:t>Kommunikációs módszer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zövegdoboz 3">
            <a:extLst>
              <a:ext uri="{FF2B5EF4-FFF2-40B4-BE49-F238E27FC236}">
                <a16:creationId xmlns:a16="http://schemas.microsoft.com/office/drawing/2014/main" id="{075799DB-55E6-408E-8C7E-21031C17E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311150"/>
            <a:ext cx="11155363" cy="618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14400" indent="-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371600" indent="-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Közeg - csatorna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Sebesség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 err="1">
                <a:latin typeface="Arial" panose="020B0604020202020204" pitchFamily="34" charset="0"/>
                <a:cs typeface="Arial" panose="020B0604020202020204" pitchFamily="34" charset="0"/>
              </a:rPr>
              <a:t>baud</a:t>
            </a:r>
            <a:endParaRPr lang="hu-HU" altLang="hu-HU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b="1" dirty="0">
                <a:latin typeface="Arial" panose="020B0604020202020204" pitchFamily="34" charset="0"/>
                <a:cs typeface="Arial" panose="020B0604020202020204" pitchFamily="34" charset="0"/>
              </a:rPr>
              <a:t>bit/sec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Irányultság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 err="1">
                <a:latin typeface="Arial" panose="020B0604020202020204" pitchFamily="34" charset="0"/>
                <a:cs typeface="Arial" panose="020B0604020202020204" pitchFamily="34" charset="0"/>
              </a:rPr>
              <a:t>Simplex</a:t>
            </a:r>
            <a:endParaRPr lang="hu-HU" altLang="hu-HU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Duplex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 err="1">
                <a:latin typeface="Arial" panose="020B0604020202020204" pitchFamily="34" charset="0"/>
                <a:cs typeface="Arial" panose="020B0604020202020204" pitchFamily="34" charset="0"/>
              </a:rPr>
              <a:t>Half</a:t>
            </a: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 duplex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 err="1">
                <a:latin typeface="Arial" panose="020B0604020202020204" pitchFamily="34" charset="0"/>
                <a:cs typeface="Arial" panose="020B0604020202020204" pitchFamily="34" charset="0"/>
              </a:rPr>
              <a:t>Full</a:t>
            </a: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 duplex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152ED04D-6DFD-42D5-A929-E56EBE415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0" y="981075"/>
            <a:ext cx="447109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-&gt; </a:t>
            </a:r>
            <a:r>
              <a:rPr lang="hu-HU" altLang="hu-HU" sz="4400" b="1" dirty="0">
                <a:latin typeface="Arial" panose="020B0604020202020204" pitchFamily="34" charset="0"/>
                <a:cs typeface="Arial" panose="020B0604020202020204" pitchFamily="34" charset="0"/>
              </a:rPr>
              <a:t>sávszélesség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10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C0C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10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C0C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zövegdoboz 3">
            <a:extLst>
              <a:ext uri="{FF2B5EF4-FFF2-40B4-BE49-F238E27FC236}">
                <a16:creationId xmlns:a16="http://schemas.microsoft.com/office/drawing/2014/main" id="{B3458E4F-F6F3-4B3E-818F-C3829ED7F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606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Hálózatok csoportosítása: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Kiterjedés (PAN, LAN, WAN)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Kapcsolatrendszer (TOPOLÓGIA)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P2P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Lánc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usz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Csillag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Gyűrű, kettős gyűrű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</a:t>
            </a: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 (kiterjesztett csillag)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</a:t>
            </a: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sszetett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Teljes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6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6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6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6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zövegdoboz 3">
            <a:extLst>
              <a:ext uri="{FF2B5EF4-FFF2-40B4-BE49-F238E27FC236}">
                <a16:creationId xmlns:a16="http://schemas.microsoft.com/office/drawing/2014/main" id="{C4950EDF-E481-434A-AC07-91B48AD15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Kapcsolatrendszer (TOPOLÓGIA)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endParaRPr lang="hu-HU" altLang="hu-HU" sz="4400" dirty="0">
              <a:latin typeface="Arial" panose="020B0604020202020204" pitchFamily="34" charset="0"/>
            </a:endParaRPr>
          </a:p>
        </p:txBody>
      </p:sp>
      <p:pic>
        <p:nvPicPr>
          <p:cNvPr id="8195" name="Picture 3" descr="Topologiak">
            <a:extLst>
              <a:ext uri="{FF2B5EF4-FFF2-40B4-BE49-F238E27FC236}">
                <a16:creationId xmlns:a16="http://schemas.microsoft.com/office/drawing/2014/main" id="{72B0A92C-A327-45DA-88E8-ABEF7DD8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9"/>
          <a:stretch>
            <a:fillRect/>
          </a:stretch>
        </p:blipFill>
        <p:spPr bwMode="auto">
          <a:xfrm>
            <a:off x="2057400" y="1368425"/>
            <a:ext cx="8077200" cy="510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zövegdoboz 3">
            <a:extLst>
              <a:ext uri="{FF2B5EF4-FFF2-40B4-BE49-F238E27FC236}">
                <a16:creationId xmlns:a16="http://schemas.microsoft.com/office/drawing/2014/main" id="{C96F0A09-2F27-4F82-AF50-28AE53259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5400" dirty="0">
                <a:latin typeface="Verdana" panose="020B0604030504040204" pitchFamily="34" charset="0"/>
              </a:rPr>
              <a:t>W&amp;WL Network 2. rész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endParaRPr lang="hu-HU" altLang="hu-HU" sz="40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zövegdoboz 3">
            <a:extLst>
              <a:ext uri="{FF2B5EF4-FFF2-40B4-BE49-F238E27FC236}">
                <a16:creationId xmlns:a16="http://schemas.microsoft.com/office/drawing/2014/main" id="{D1A74B2A-D214-402A-A74F-5FCFB6F6A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6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Hálózatok csoportosítása: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Kiterjedés (PAN, LAN, WAN)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Kapcsolatrendszer (TOPOLÓGIA)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Hierarchia (Szerver-kliens)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Dedikált </a:t>
            </a:r>
            <a:r>
              <a:rPr lang="hu-HU" altLang="hu-HU" sz="4000">
                <a:latin typeface="Verdana" panose="020B0604030504040204" pitchFamily="34" charset="0"/>
              </a:rPr>
              <a:t>(egycélú) és konvergált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Összetevők: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Végberendezések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b="1">
                <a:latin typeface="Verdana" panose="020B0604030504040204" pitchFamily="34" charset="0"/>
              </a:rPr>
              <a:t>Csomópontok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b="1">
                <a:latin typeface="Verdana" panose="020B0604030504040204" pitchFamily="34" charset="0"/>
              </a:rPr>
              <a:t>Vonalak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zövegdoboz 3">
            <a:extLst>
              <a:ext uri="{FF2B5EF4-FFF2-40B4-BE49-F238E27FC236}">
                <a16:creationId xmlns:a16="http://schemas.microsoft.com/office/drawing/2014/main" id="{ACE84DE8-54EA-4A67-AA62-3E6144A75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A fogadó meghatározása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Egyszerű esetek: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P2P (direkt kapcsolat)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Szórás (</a:t>
            </a:r>
            <a:r>
              <a:rPr lang="hu-HU" altLang="hu-HU" sz="4400" dirty="0" err="1">
                <a:latin typeface="Verdana" panose="020B0604030504040204" pitchFamily="34" charset="0"/>
              </a:rPr>
              <a:t>Broadcast</a:t>
            </a:r>
            <a:r>
              <a:rPr lang="hu-HU" altLang="hu-HU" sz="4400" dirty="0">
                <a:latin typeface="Verdana" panose="020B0604030504040204" pitchFamily="34" charset="0"/>
              </a:rPr>
              <a:t>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Címzett esetek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Egy címzett (</a:t>
            </a:r>
            <a:r>
              <a:rPr lang="hu-HU" altLang="hu-HU" sz="4400" dirty="0" err="1">
                <a:latin typeface="Verdana" panose="020B0604030504040204" pitchFamily="34" charset="0"/>
              </a:rPr>
              <a:t>Unicast</a:t>
            </a:r>
            <a:r>
              <a:rPr lang="hu-HU" altLang="hu-HU" sz="4400" dirty="0">
                <a:latin typeface="Verdana" panose="020B0604030504040204" pitchFamily="34" charset="0"/>
              </a:rPr>
              <a:t>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Csoportos címzés (</a:t>
            </a:r>
            <a:r>
              <a:rPr lang="hu-HU" altLang="hu-HU" sz="4400" dirty="0" err="1">
                <a:latin typeface="Verdana" panose="020B0604030504040204" pitchFamily="34" charset="0"/>
              </a:rPr>
              <a:t>Multicast</a:t>
            </a:r>
            <a:r>
              <a:rPr lang="hu-HU" altLang="hu-HU" sz="4400" dirty="0">
                <a:latin typeface="Verdana" panose="020B0604030504040204" pitchFamily="34" charset="0"/>
              </a:rPr>
              <a:t>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</a:rPr>
              <a:t>és egy fura: </a:t>
            </a:r>
            <a:r>
              <a:rPr lang="hu-HU" altLang="hu-HU" sz="4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</a:rPr>
              <a:t>Anycast</a:t>
            </a:r>
            <a:endParaRPr lang="hu-HU" altLang="hu-HU" sz="4400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zövegdoboz 3">
            <a:extLst>
              <a:ext uri="{FF2B5EF4-FFF2-40B4-BE49-F238E27FC236}">
                <a16:creationId xmlns:a16="http://schemas.microsoft.com/office/drawing/2014/main" id="{F0F00ADA-DCA3-4436-98B3-63B22F011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Címrendszerek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Fizikai cím </a:t>
            </a:r>
            <a:r>
              <a:rPr lang="hu-HU" altLang="hu-HU" sz="3600" dirty="0">
                <a:latin typeface="Verdana" panose="020B0604030504040204" pitchFamily="34" charset="0"/>
              </a:rPr>
              <a:t>(gyártási, nem módosítható)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Az Ethernetnek köszönhetően tipikusan: MAC (Media Access </a:t>
            </a:r>
            <a:r>
              <a:rPr lang="hu-HU" altLang="hu-HU" sz="4400" dirty="0" err="1">
                <a:latin typeface="Verdana" panose="020B0604030504040204" pitchFamily="34" charset="0"/>
              </a:rPr>
              <a:t>Control</a:t>
            </a:r>
            <a:r>
              <a:rPr lang="hu-HU" altLang="hu-HU" sz="4400" dirty="0">
                <a:latin typeface="Verdana" panose="020B0604030504040204" pitchFamily="34" charset="0"/>
              </a:rPr>
              <a:t>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Logikai cím </a:t>
            </a:r>
            <a:r>
              <a:rPr lang="hu-HU" altLang="hu-HU" sz="3600" dirty="0">
                <a:latin typeface="Verdana" panose="020B0604030504040204" pitchFamily="34" charset="0"/>
              </a:rPr>
              <a:t>(felhasználói, tervezhető)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Az Internetnek köszönhetően tipikusan: IP (Internet </a:t>
            </a:r>
            <a:r>
              <a:rPr lang="hu-HU" altLang="hu-HU" sz="4400" dirty="0" err="1">
                <a:latin typeface="Verdana" panose="020B0604030504040204" pitchFamily="34" charset="0"/>
              </a:rPr>
              <a:t>Protocoll</a:t>
            </a:r>
            <a:r>
              <a:rPr lang="hu-HU" altLang="hu-HU" sz="4400" dirty="0">
                <a:latin typeface="Verdana" panose="020B0604030504040204" pitchFamily="34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rc_mi" descr="TCP-Protocols">
            <a:extLst>
              <a:ext uri="{FF2B5EF4-FFF2-40B4-BE49-F238E27FC236}">
                <a16:creationId xmlns:a16="http://schemas.microsoft.com/office/drawing/2014/main" id="{9F450656-8C0E-47C9-9BD5-E67A7EE87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165100"/>
            <a:ext cx="11706225" cy="648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zövegdoboz 3">
            <a:extLst>
              <a:ext uri="{FF2B5EF4-FFF2-40B4-BE49-F238E27FC236}">
                <a16:creationId xmlns:a16="http://schemas.microsoft.com/office/drawing/2014/main" id="{85D47BEC-7E8B-4ABF-B400-60DE3FF7B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372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IP v4 összefoglaló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32 bites cím (pontozott decimális írásmód), két részre osztva: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Hálózatazonosító bitek (családnév)+állomásazonosító bitek (keresztév)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Felosztás MASK alapján, pl.: 255.255.255.192 (vagy bitszámmal /26)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Osztályos címek (A=/8, B=/16, C=/24) (kifutott rendszer)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Osztály nélküli címek /0…/30 (aktuális rendszer)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Tartomány legkisebb címe (állomásazonosító csupa 0) : </a:t>
            </a:r>
            <a:r>
              <a:rPr lang="hu-HU" altLang="hu-HU" sz="2400" b="1" dirty="0">
                <a:latin typeface="Verdana" panose="020B0604030504040204" pitchFamily="34" charset="0"/>
              </a:rPr>
              <a:t>Hálózati cím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Tartomány legnagyobb címe (állomásazonosító csupa 1) : </a:t>
            </a:r>
            <a:r>
              <a:rPr lang="hu-HU" altLang="hu-HU" sz="2400" b="1" dirty="0">
                <a:latin typeface="Verdana" panose="020B0604030504040204" pitchFamily="34" charset="0"/>
              </a:rPr>
              <a:t>Szórási cím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hu-HU" altLang="hu-HU" sz="2400" dirty="0">
              <a:latin typeface="Verdana" panose="020B0604030504040204" pitchFamily="34" charset="0"/>
            </a:endParaRPr>
          </a:p>
        </p:txBody>
      </p:sp>
      <p:sp>
        <p:nvSpPr>
          <p:cNvPr id="3" name="Szövegdoboz 3">
            <a:extLst>
              <a:ext uri="{FF2B5EF4-FFF2-40B4-BE49-F238E27FC236}">
                <a16:creationId xmlns:a16="http://schemas.microsoft.com/office/drawing/2014/main" id="{A8AB0ED7-0CD4-411A-9535-255596673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279449"/>
            <a:ext cx="11155363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IP v6 összefoglaló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128 bites cím (8 hexadecimális részben leírva), két részre osztva: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Hálózatazonosító bitek (családnév)+állomásazonosító bitek (keresztév)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Nincs szórás. Helyette csoport, amiben mindenki tag a saját hálózatból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Az IPv4-et kellett volna leváltsa, de 20+ éve csak folyamatban…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zövegdoboz 3">
            <a:extLst>
              <a:ext uri="{FF2B5EF4-FFF2-40B4-BE49-F238E27FC236}">
                <a16:creationId xmlns:a16="http://schemas.microsoft.com/office/drawing/2014/main" id="{E0B5FA27-4A8A-4E64-946E-86197E249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MAC cím összefoglaló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48 bites cím, két részre osztva: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 err="1">
                <a:latin typeface="Verdana" panose="020B0604030504040204" pitchFamily="34" charset="0"/>
              </a:rPr>
              <a:t>Gyártózatazonosító</a:t>
            </a:r>
            <a:r>
              <a:rPr lang="hu-HU" altLang="hu-HU" sz="2400" dirty="0">
                <a:latin typeface="Verdana" panose="020B0604030504040204" pitchFamily="34" charset="0"/>
              </a:rPr>
              <a:t> bitek (családnév)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	Egy gyártó több tartományt is vásárolhat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+interfészazonosító bitek (keresztév)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	ezt teljes egészében a gyártó menedzseli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Felosztás fixen 24+24 bit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Legnagyobb cím (csupa 1, azaz FF:FF:FF:FF:FF:FF) a Szórási cím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hu-HU" altLang="hu-HU" sz="24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Eredetileg nem módosítható, olcsóbb gyártástechnológia miatt viszont mára ez nem igaz, „</a:t>
            </a:r>
            <a:r>
              <a:rPr lang="hu-HU" altLang="hu-HU" sz="2400" dirty="0" err="1">
                <a:latin typeface="Verdana" panose="020B0604030504040204" pitchFamily="34" charset="0"/>
              </a:rPr>
              <a:t>klónzható</a:t>
            </a:r>
            <a:r>
              <a:rPr lang="hu-HU" altLang="hu-HU" sz="2400" dirty="0">
                <a:latin typeface="Verdana" panose="020B0604030504040204" pitchFamily="34" charset="0"/>
              </a:rPr>
              <a:t>”, hamisítható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zövegdoboz 3">
            <a:extLst>
              <a:ext uri="{FF2B5EF4-FFF2-40B4-BE49-F238E27FC236}">
                <a16:creationId xmlns:a16="http://schemas.microsoft.com/office/drawing/2014/main" id="{44BA7211-E2BD-4E74-A8A7-E499D11CB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Hálózati szintek kapcsolata I.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Munkaállomások különféle LAN-okba kapcsolva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A kapcsolatot technikailag MAC címek jellemzik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Alkalmazási réteg felől IP cím érkezik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A forgalom lehet helyi, vagy külső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Helyi szinten nem megyünk ki a LAN-ból, a csomópontok kapcsolók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Külső forgalom </a:t>
            </a:r>
            <a:r>
              <a:rPr lang="hu-HU" altLang="hu-HU">
                <a:solidFill>
                  <a:srgbClr val="33CC33"/>
                </a:solidFill>
                <a:latin typeface="Verdana" panose="020B0604030504040204" pitchFamily="34" charset="0"/>
              </a:rPr>
              <a:t>átjáró</a:t>
            </a:r>
            <a:r>
              <a:rPr lang="hu-HU" altLang="hu-HU">
                <a:latin typeface="Verdana" panose="020B0604030504040204" pitchFamily="34" charset="0"/>
              </a:rPr>
              <a:t>t igényel, csomópontok forgalomirányítók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solidFill>
                  <a:srgbClr val="FF3300"/>
                </a:solidFill>
                <a:latin typeface="Verdana" panose="020B0604030504040204" pitchFamily="34" charset="0"/>
              </a:rPr>
              <a:t>Szórási tartomány</a:t>
            </a:r>
            <a:r>
              <a:rPr lang="hu-HU" altLang="hu-HU">
                <a:latin typeface="Verdana" panose="020B0604030504040204" pitchFamily="34" charset="0"/>
              </a:rPr>
              <a:t>: a szórást nem továbbítjuk LAN-ok közt</a:t>
            </a: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07C77A1B-1E53-4251-83E6-5F7ACF3F5A7E}"/>
              </a:ext>
            </a:extLst>
          </p:cNvPr>
          <p:cNvSpPr/>
          <p:nvPr/>
        </p:nvSpPr>
        <p:spPr>
          <a:xfrm>
            <a:off x="39116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3" name="Ellipszis 2">
            <a:extLst>
              <a:ext uri="{FF2B5EF4-FFF2-40B4-BE49-F238E27FC236}">
                <a16:creationId xmlns:a16="http://schemas.microsoft.com/office/drawing/2014/main" id="{45255693-D8C6-4404-8934-33403D579705}"/>
              </a:ext>
            </a:extLst>
          </p:cNvPr>
          <p:cNvSpPr/>
          <p:nvPr/>
        </p:nvSpPr>
        <p:spPr>
          <a:xfrm>
            <a:off x="5784850" y="4545013"/>
            <a:ext cx="658813" cy="6492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/>
              <a:t>R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F5ECF371-6147-4F81-9DD6-7E517CE8CE1D}"/>
              </a:ext>
            </a:extLst>
          </p:cNvPr>
          <p:cNvSpPr/>
          <p:nvPr/>
        </p:nvSpPr>
        <p:spPr>
          <a:xfrm>
            <a:off x="75692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1EBED604-FDE4-4435-B1D9-0610FDB78228}"/>
              </a:ext>
            </a:extLst>
          </p:cNvPr>
          <p:cNvSpPr/>
          <p:nvPr/>
        </p:nvSpPr>
        <p:spPr>
          <a:xfrm>
            <a:off x="2298700" y="53594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66442821-0569-4855-AFB4-4049A9FE6642}"/>
              </a:ext>
            </a:extLst>
          </p:cNvPr>
          <p:cNvSpPr/>
          <p:nvPr/>
        </p:nvSpPr>
        <p:spPr>
          <a:xfrm>
            <a:off x="22987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7A26983F-EA71-438B-8572-26CECDDA4333}"/>
              </a:ext>
            </a:extLst>
          </p:cNvPr>
          <p:cNvSpPr/>
          <p:nvPr/>
        </p:nvSpPr>
        <p:spPr>
          <a:xfrm>
            <a:off x="9093200" y="526573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E70B62DF-B5D9-408E-856D-12EDB32020FC}"/>
              </a:ext>
            </a:extLst>
          </p:cNvPr>
          <p:cNvSpPr/>
          <p:nvPr/>
        </p:nvSpPr>
        <p:spPr>
          <a:xfrm>
            <a:off x="90932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FC401B5F-08B8-460F-AD1A-B72B60DD5C04}"/>
              </a:ext>
            </a:extLst>
          </p:cNvPr>
          <p:cNvCxnSpPr>
            <a:stCxn id="7" idx="3"/>
          </p:cNvCxnSpPr>
          <p:nvPr/>
        </p:nvCxnSpPr>
        <p:spPr>
          <a:xfrm>
            <a:off x="2998788" y="4743450"/>
            <a:ext cx="9128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21759CB9-44F0-44B2-9443-93FDCA9BA088}"/>
              </a:ext>
            </a:extLst>
          </p:cNvPr>
          <p:cNvCxnSpPr>
            <a:stCxn id="4" idx="3"/>
          </p:cNvCxnSpPr>
          <p:nvPr/>
        </p:nvCxnSpPr>
        <p:spPr>
          <a:xfrm flipV="1">
            <a:off x="2998788" y="5062538"/>
            <a:ext cx="912812" cy="4953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E5BEFF8C-23FB-4D31-84A4-405460442C1D}"/>
              </a:ext>
            </a:extLst>
          </p:cNvPr>
          <p:cNvCxnSpPr>
            <a:stCxn id="9" idx="1"/>
          </p:cNvCxnSpPr>
          <p:nvPr/>
        </p:nvCxnSpPr>
        <p:spPr>
          <a:xfrm flipH="1">
            <a:off x="8318500" y="4743450"/>
            <a:ext cx="774700" cy="174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81F2DE92-9576-4A95-9900-46CF071A0678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8318500" y="4906963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zögletes összekötő 17">
            <a:extLst>
              <a:ext uri="{FF2B5EF4-FFF2-40B4-BE49-F238E27FC236}">
                <a16:creationId xmlns:a16="http://schemas.microsoft.com/office/drawing/2014/main" id="{D452F7D4-99B9-469F-AC18-3D9ECEC0B1B5}"/>
              </a:ext>
            </a:extLst>
          </p:cNvPr>
          <p:cNvCxnSpPr>
            <a:stCxn id="2" idx="3"/>
            <a:endCxn id="3" idx="2"/>
          </p:cNvCxnSpPr>
          <p:nvPr/>
        </p:nvCxnSpPr>
        <p:spPr>
          <a:xfrm flipV="1">
            <a:off x="4660900" y="4870450"/>
            <a:ext cx="1123950" cy="3651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örbe összekötő 19">
            <a:extLst>
              <a:ext uri="{FF2B5EF4-FFF2-40B4-BE49-F238E27FC236}">
                <a16:creationId xmlns:a16="http://schemas.microsoft.com/office/drawing/2014/main" id="{8F5061C5-43EE-4822-9519-DBEE7C530AE4}"/>
              </a:ext>
            </a:extLst>
          </p:cNvPr>
          <p:cNvCxnSpPr>
            <a:stCxn id="3" idx="6"/>
          </p:cNvCxnSpPr>
          <p:nvPr/>
        </p:nvCxnSpPr>
        <p:spPr>
          <a:xfrm>
            <a:off x="6443663" y="4870450"/>
            <a:ext cx="1125537" cy="19208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CCD68B5F-07BE-46F9-931C-DF21C31BB699}"/>
              </a:ext>
            </a:extLst>
          </p:cNvPr>
          <p:cNvSpPr/>
          <p:nvPr/>
        </p:nvSpPr>
        <p:spPr>
          <a:xfrm>
            <a:off x="4978400" y="5321300"/>
            <a:ext cx="749300" cy="725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cxnSp>
        <p:nvCxnSpPr>
          <p:cNvPr id="23" name="Görbe összekötő 22">
            <a:extLst>
              <a:ext uri="{FF2B5EF4-FFF2-40B4-BE49-F238E27FC236}">
                <a16:creationId xmlns:a16="http://schemas.microsoft.com/office/drawing/2014/main" id="{819E928D-DF07-480B-8C3C-BB63E8A27742}"/>
              </a:ext>
            </a:extLst>
          </p:cNvPr>
          <p:cNvCxnSpPr>
            <a:stCxn id="22" idx="0"/>
            <a:endCxn id="3" idx="3"/>
          </p:cNvCxnSpPr>
          <p:nvPr/>
        </p:nvCxnSpPr>
        <p:spPr>
          <a:xfrm rot="5400000" flipH="1" flipV="1">
            <a:off x="5506244" y="4945856"/>
            <a:ext cx="222250" cy="52863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510182C0-E48F-4648-88AD-8FF9AA986F45}"/>
              </a:ext>
            </a:extLst>
          </p:cNvPr>
          <p:cNvSpPr/>
          <p:nvPr/>
        </p:nvSpPr>
        <p:spPr>
          <a:xfrm>
            <a:off x="4025900" y="57388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EE9EFE02-4B43-4446-896A-D6069BD023C1}"/>
              </a:ext>
            </a:extLst>
          </p:cNvPr>
          <p:cNvSpPr/>
          <p:nvPr/>
        </p:nvSpPr>
        <p:spPr>
          <a:xfrm>
            <a:off x="6151563" y="5651500"/>
            <a:ext cx="700087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2B82FE9A-30C6-4402-9A5B-5541490B0229}"/>
              </a:ext>
            </a:extLst>
          </p:cNvPr>
          <p:cNvSpPr/>
          <p:nvPr/>
        </p:nvSpPr>
        <p:spPr>
          <a:xfrm>
            <a:off x="7742238" y="5653088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2CCDE070-FD8C-4725-AFB3-E482E491E0ED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7742238" y="5270500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36" name="Szögletes összekötő 39935">
            <a:extLst>
              <a:ext uri="{FF2B5EF4-FFF2-40B4-BE49-F238E27FC236}">
                <a16:creationId xmlns:a16="http://schemas.microsoft.com/office/drawing/2014/main" id="{91E6AAEF-DFC2-4245-90E6-568929F773B0}"/>
              </a:ext>
            </a:extLst>
          </p:cNvPr>
          <p:cNvCxnSpPr>
            <a:stCxn id="26" idx="1"/>
            <a:endCxn id="22" idx="3"/>
          </p:cNvCxnSpPr>
          <p:nvPr/>
        </p:nvCxnSpPr>
        <p:spPr>
          <a:xfrm rot="10800000">
            <a:off x="5727700" y="5684838"/>
            <a:ext cx="423863" cy="16351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40" name="Szögletes összekötő 39939">
            <a:extLst>
              <a:ext uri="{FF2B5EF4-FFF2-40B4-BE49-F238E27FC236}">
                <a16:creationId xmlns:a16="http://schemas.microsoft.com/office/drawing/2014/main" id="{1AD2C388-F470-4401-9CA4-908175091C7A}"/>
              </a:ext>
            </a:extLst>
          </p:cNvPr>
          <p:cNvCxnSpPr>
            <a:endCxn id="22" idx="1"/>
          </p:cNvCxnSpPr>
          <p:nvPr/>
        </p:nvCxnSpPr>
        <p:spPr>
          <a:xfrm flipV="1">
            <a:off x="4679950" y="5684838"/>
            <a:ext cx="298450" cy="9366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32" name="AutoShape 24">
            <a:extLst>
              <a:ext uri="{FF2B5EF4-FFF2-40B4-BE49-F238E27FC236}">
                <a16:creationId xmlns:a16="http://schemas.microsoft.com/office/drawing/2014/main" id="{73443138-A47E-48B3-8B8F-B658DDC40F24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>
            <a:off x="7862094" y="804069"/>
            <a:ext cx="2320925" cy="5351463"/>
          </a:xfrm>
          <a:prstGeom prst="curvedConnector4">
            <a:avLst>
              <a:gd name="adj1" fmla="val 12380"/>
              <a:gd name="adj2" fmla="val 104241"/>
            </a:avLst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11" name="Oval 31">
            <a:extLst>
              <a:ext uri="{FF2B5EF4-FFF2-40B4-BE49-F238E27FC236}">
                <a16:creationId xmlns:a16="http://schemas.microsoft.com/office/drawing/2014/main" id="{799A9415-467A-4963-AA2B-2170F9A4E83F}"/>
              </a:ext>
            </a:extLst>
          </p:cNvPr>
          <p:cNvSpPr>
            <a:spLocks noChangeArrowheads="1"/>
          </p:cNvSpPr>
          <p:nvPr/>
        </p:nvSpPr>
        <p:spPr bwMode="auto">
          <a:xfrm rot="696351">
            <a:off x="6652091" y="4183049"/>
            <a:ext cx="3924224" cy="208597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hu-HU" altLang="hu-HU" sz="4000">
              <a:latin typeface="Verdana" panose="020B0604030504040204" pitchFamily="34" charset="0"/>
            </a:endParaRPr>
          </a:p>
        </p:txBody>
      </p:sp>
      <p:sp>
        <p:nvSpPr>
          <p:cNvPr id="46112" name="Oval 32">
            <a:extLst>
              <a:ext uri="{FF2B5EF4-FFF2-40B4-BE49-F238E27FC236}">
                <a16:creationId xmlns:a16="http://schemas.microsoft.com/office/drawing/2014/main" id="{6B6199D1-3AFE-4786-AF93-8B0CD11446EC}"/>
              </a:ext>
            </a:extLst>
          </p:cNvPr>
          <p:cNvSpPr>
            <a:spLocks noChangeArrowheads="1"/>
          </p:cNvSpPr>
          <p:nvPr/>
        </p:nvSpPr>
        <p:spPr bwMode="auto">
          <a:xfrm rot="21197814">
            <a:off x="1667927" y="4171950"/>
            <a:ext cx="3893818" cy="1589088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hu-HU" altLang="hu-HU" sz="4000">
              <a:latin typeface="Verdana" panose="020B0604030504040204" pitchFamily="34" charset="0"/>
            </a:endParaRPr>
          </a:p>
        </p:txBody>
      </p:sp>
      <p:sp>
        <p:nvSpPr>
          <p:cNvPr id="46113" name="Oval 33">
            <a:extLst>
              <a:ext uri="{FF2B5EF4-FFF2-40B4-BE49-F238E27FC236}">
                <a16:creationId xmlns:a16="http://schemas.microsoft.com/office/drawing/2014/main" id="{33F2F059-94BF-4B8D-B75D-DB94CF9EF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3" y="5232401"/>
            <a:ext cx="3207542" cy="1411288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hu-HU" altLang="hu-HU" sz="4000">
              <a:latin typeface="Verdana" panose="020B0604030504040204" pitchFamily="34" charset="0"/>
            </a:endParaRPr>
          </a:p>
        </p:txBody>
      </p:sp>
      <p:sp>
        <p:nvSpPr>
          <p:cNvPr id="46114" name="Oval 34">
            <a:extLst>
              <a:ext uri="{FF2B5EF4-FFF2-40B4-BE49-F238E27FC236}">
                <a16:creationId xmlns:a16="http://schemas.microsoft.com/office/drawing/2014/main" id="{F4A24003-4C8B-476A-9164-DEF07CBF4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1025" y="4456113"/>
            <a:ext cx="928688" cy="812800"/>
          </a:xfrm>
          <a:prstGeom prst="ellipse">
            <a:avLst/>
          </a:prstGeom>
          <a:noFill/>
          <a:ln w="381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hu-HU" altLang="hu-HU" sz="40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0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0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60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0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11" grpId="0" animBg="1"/>
      <p:bldP spid="46112" grpId="0" animBg="1"/>
      <p:bldP spid="46113" grpId="0" animBg="1"/>
      <p:bldP spid="461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zövegdoboz 3">
            <a:extLst>
              <a:ext uri="{FF2B5EF4-FFF2-40B4-BE49-F238E27FC236}">
                <a16:creationId xmlns:a16="http://schemas.microsoft.com/office/drawing/2014/main" id="{3D8447E5-7C4E-407A-8BB9-A160334C1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Hálózati szintek kapcsolata II.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IP címet a réteghatáron (L2-L3) átfotdítjuk MAC címre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000">
                <a:latin typeface="Verdana" panose="020B0604030504040204" pitchFamily="34" charset="0"/>
              </a:rPr>
              <a:t> </a:t>
            </a:r>
            <a:r>
              <a:rPr lang="hu-HU" altLang="hu-HU">
                <a:latin typeface="Verdana" panose="020B0604030504040204" pitchFamily="34" charset="0"/>
              </a:rPr>
              <a:t>ARP protokoll -&gt; ezért késik az első PING válasz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solidFill>
                  <a:srgbClr val="33CC33"/>
                </a:solidFill>
                <a:latin typeface="Verdana" panose="020B0604030504040204" pitchFamily="34" charset="0"/>
              </a:rPr>
              <a:t>Helyi forgalom</a:t>
            </a:r>
            <a:r>
              <a:rPr lang="hu-HU" altLang="hu-HU" sz="2400">
                <a:latin typeface="Verdana" panose="020B0604030504040204" pitchFamily="34" charset="0"/>
              </a:rPr>
              <a:t> esetén a címzett és a saját hálózatazonosító egyforma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MAC cím segítségével továbbítjuk (IP cím is benne)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IP cím alapján ellenőrizheti a címzett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solidFill>
                  <a:srgbClr val="FF3300"/>
                </a:solidFill>
                <a:latin typeface="Verdana" panose="020B0604030504040204" pitchFamily="34" charset="0"/>
              </a:rPr>
              <a:t>Külső forgalom</a:t>
            </a:r>
            <a:r>
              <a:rPr lang="hu-HU" altLang="hu-HU" sz="2400">
                <a:latin typeface="Verdana" panose="020B0604030504040204" pitchFamily="34" charset="0"/>
              </a:rPr>
              <a:t> esetén nem egyezik a hálózatazonosító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Átjáró MAC címére továbbítjuk (IP cím a célé marad!)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Router az idegen IP alapján továbbítást választ</a:t>
            </a:r>
            <a:endParaRPr lang="hu-HU" altLang="hu-HU" sz="2000">
              <a:latin typeface="Verdana" panose="020B0604030504040204" pitchFamily="34" charset="0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0A902751-C1DF-4DE1-AB9B-973CC956DC8F}"/>
              </a:ext>
            </a:extLst>
          </p:cNvPr>
          <p:cNvSpPr/>
          <p:nvPr/>
        </p:nvSpPr>
        <p:spPr>
          <a:xfrm>
            <a:off x="39116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3" name="Ellipszis 2">
            <a:extLst>
              <a:ext uri="{FF2B5EF4-FFF2-40B4-BE49-F238E27FC236}">
                <a16:creationId xmlns:a16="http://schemas.microsoft.com/office/drawing/2014/main" id="{4D526F0C-C822-4728-ACB2-A3D68BDA1CCC}"/>
              </a:ext>
            </a:extLst>
          </p:cNvPr>
          <p:cNvSpPr/>
          <p:nvPr/>
        </p:nvSpPr>
        <p:spPr>
          <a:xfrm>
            <a:off x="5784850" y="4545013"/>
            <a:ext cx="658813" cy="6492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/>
              <a:t>R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3D448A-0563-4F70-BD7A-F0B5BF2B7DE5}"/>
              </a:ext>
            </a:extLst>
          </p:cNvPr>
          <p:cNvSpPr/>
          <p:nvPr/>
        </p:nvSpPr>
        <p:spPr>
          <a:xfrm>
            <a:off x="75692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B2121E21-F88D-4703-AEC5-B3126F8AAD2E}"/>
              </a:ext>
            </a:extLst>
          </p:cNvPr>
          <p:cNvSpPr/>
          <p:nvPr/>
        </p:nvSpPr>
        <p:spPr>
          <a:xfrm>
            <a:off x="2298700" y="53594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66"/>
                </a:solidFill>
                <a:latin typeface="Calibri" panose="020F0502020204030204" pitchFamily="34" charset="0"/>
              </a:rPr>
              <a:t>C</a:t>
            </a:r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579CDA44-8EE2-48BC-A7E7-3BF3017E4BA1}"/>
              </a:ext>
            </a:extLst>
          </p:cNvPr>
          <p:cNvSpPr/>
          <p:nvPr/>
        </p:nvSpPr>
        <p:spPr>
          <a:xfrm>
            <a:off x="22987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66"/>
                </a:solidFill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AA3DE51F-1B90-4389-A825-7C5747CD881B}"/>
              </a:ext>
            </a:extLst>
          </p:cNvPr>
          <p:cNvSpPr/>
          <p:nvPr/>
        </p:nvSpPr>
        <p:spPr>
          <a:xfrm>
            <a:off x="9093200" y="526573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66"/>
                </a:solidFill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DF465BD7-4C3D-46E9-B504-929B25B6A1FA}"/>
              </a:ext>
            </a:extLst>
          </p:cNvPr>
          <p:cNvSpPr/>
          <p:nvPr/>
        </p:nvSpPr>
        <p:spPr>
          <a:xfrm>
            <a:off x="90932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C90E506C-B583-4B60-9175-DF4798D84063}"/>
              </a:ext>
            </a:extLst>
          </p:cNvPr>
          <p:cNvCxnSpPr>
            <a:stCxn id="7" idx="3"/>
          </p:cNvCxnSpPr>
          <p:nvPr/>
        </p:nvCxnSpPr>
        <p:spPr>
          <a:xfrm>
            <a:off x="2998788" y="4743450"/>
            <a:ext cx="9128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56FD23A6-358C-46DC-946B-297F7B169673}"/>
              </a:ext>
            </a:extLst>
          </p:cNvPr>
          <p:cNvCxnSpPr>
            <a:stCxn id="4" idx="3"/>
          </p:cNvCxnSpPr>
          <p:nvPr/>
        </p:nvCxnSpPr>
        <p:spPr>
          <a:xfrm flipV="1">
            <a:off x="2998788" y="5062538"/>
            <a:ext cx="912812" cy="4953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38C7F4BC-7E61-43C6-8CC1-111B2260B033}"/>
              </a:ext>
            </a:extLst>
          </p:cNvPr>
          <p:cNvCxnSpPr>
            <a:stCxn id="9" idx="1"/>
          </p:cNvCxnSpPr>
          <p:nvPr/>
        </p:nvCxnSpPr>
        <p:spPr>
          <a:xfrm flipH="1">
            <a:off x="8318500" y="4743450"/>
            <a:ext cx="774700" cy="174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A776F778-128B-467B-97FE-7D587AB3B438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8318500" y="4906963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zögletes összekötő 17">
            <a:extLst>
              <a:ext uri="{FF2B5EF4-FFF2-40B4-BE49-F238E27FC236}">
                <a16:creationId xmlns:a16="http://schemas.microsoft.com/office/drawing/2014/main" id="{D1AB4A3E-A2E7-43F7-9E97-0A0473876906}"/>
              </a:ext>
            </a:extLst>
          </p:cNvPr>
          <p:cNvCxnSpPr>
            <a:stCxn id="2" idx="3"/>
            <a:endCxn id="3" idx="2"/>
          </p:cNvCxnSpPr>
          <p:nvPr/>
        </p:nvCxnSpPr>
        <p:spPr>
          <a:xfrm flipV="1">
            <a:off x="4660900" y="4870450"/>
            <a:ext cx="1123950" cy="3651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örbe összekötő 19">
            <a:extLst>
              <a:ext uri="{FF2B5EF4-FFF2-40B4-BE49-F238E27FC236}">
                <a16:creationId xmlns:a16="http://schemas.microsoft.com/office/drawing/2014/main" id="{203D31B8-6F35-4295-B8C4-393E6A7A7DD3}"/>
              </a:ext>
            </a:extLst>
          </p:cNvPr>
          <p:cNvCxnSpPr>
            <a:stCxn id="3" idx="6"/>
          </p:cNvCxnSpPr>
          <p:nvPr/>
        </p:nvCxnSpPr>
        <p:spPr>
          <a:xfrm>
            <a:off x="6443663" y="4870450"/>
            <a:ext cx="1125537" cy="19208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1CF8C951-BDAC-41F1-A153-B3C32B2F6911}"/>
              </a:ext>
            </a:extLst>
          </p:cNvPr>
          <p:cNvSpPr/>
          <p:nvPr/>
        </p:nvSpPr>
        <p:spPr>
          <a:xfrm>
            <a:off x="4978400" y="5321300"/>
            <a:ext cx="749300" cy="725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cxnSp>
        <p:nvCxnSpPr>
          <p:cNvPr id="23" name="Görbe összekötő 22">
            <a:extLst>
              <a:ext uri="{FF2B5EF4-FFF2-40B4-BE49-F238E27FC236}">
                <a16:creationId xmlns:a16="http://schemas.microsoft.com/office/drawing/2014/main" id="{377FE533-FF84-40D5-BE9F-E6026EB4E3B1}"/>
              </a:ext>
            </a:extLst>
          </p:cNvPr>
          <p:cNvCxnSpPr>
            <a:stCxn id="22" idx="0"/>
            <a:endCxn id="3" idx="3"/>
          </p:cNvCxnSpPr>
          <p:nvPr/>
        </p:nvCxnSpPr>
        <p:spPr>
          <a:xfrm rot="5400000" flipH="1" flipV="1">
            <a:off x="5506244" y="4945856"/>
            <a:ext cx="222250" cy="52863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74CC64E4-7BE6-4317-87BE-CA44F0E4810E}"/>
              </a:ext>
            </a:extLst>
          </p:cNvPr>
          <p:cNvSpPr/>
          <p:nvPr/>
        </p:nvSpPr>
        <p:spPr>
          <a:xfrm>
            <a:off x="4011613" y="5738813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165F7DBF-97FA-4388-B973-611DB4F9F654}"/>
              </a:ext>
            </a:extLst>
          </p:cNvPr>
          <p:cNvSpPr/>
          <p:nvPr/>
        </p:nvSpPr>
        <p:spPr>
          <a:xfrm>
            <a:off x="6151563" y="5651500"/>
            <a:ext cx="700087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F551341F-B61B-4FCB-8311-56D0FD034B68}"/>
              </a:ext>
            </a:extLst>
          </p:cNvPr>
          <p:cNvSpPr/>
          <p:nvPr/>
        </p:nvSpPr>
        <p:spPr>
          <a:xfrm>
            <a:off x="7742238" y="5653088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AD0ED3E2-1558-48C2-BB72-C4537CDE1D0C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7742238" y="5270500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36" name="Szögletes összekötő 39935">
            <a:extLst>
              <a:ext uri="{FF2B5EF4-FFF2-40B4-BE49-F238E27FC236}">
                <a16:creationId xmlns:a16="http://schemas.microsoft.com/office/drawing/2014/main" id="{BB5FB44F-7522-4299-8CAD-5593CCDB0FFB}"/>
              </a:ext>
            </a:extLst>
          </p:cNvPr>
          <p:cNvCxnSpPr>
            <a:stCxn id="26" idx="1"/>
            <a:endCxn id="22" idx="3"/>
          </p:cNvCxnSpPr>
          <p:nvPr/>
        </p:nvCxnSpPr>
        <p:spPr>
          <a:xfrm rot="10800000">
            <a:off x="5727700" y="5684838"/>
            <a:ext cx="423863" cy="16351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40" name="Szögletes összekötő 39939">
            <a:extLst>
              <a:ext uri="{FF2B5EF4-FFF2-40B4-BE49-F238E27FC236}">
                <a16:creationId xmlns:a16="http://schemas.microsoft.com/office/drawing/2014/main" id="{F33C527F-98D0-455A-B302-67E48CBE3287}"/>
              </a:ext>
            </a:extLst>
          </p:cNvPr>
          <p:cNvCxnSpPr>
            <a:endCxn id="22" idx="1"/>
          </p:cNvCxnSpPr>
          <p:nvPr/>
        </p:nvCxnSpPr>
        <p:spPr>
          <a:xfrm flipV="1">
            <a:off x="4679950" y="5684838"/>
            <a:ext cx="298450" cy="9366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48" name="AutoShape 24">
            <a:extLst>
              <a:ext uri="{FF2B5EF4-FFF2-40B4-BE49-F238E27FC236}">
                <a16:creationId xmlns:a16="http://schemas.microsoft.com/office/drawing/2014/main" id="{134B3ADE-1101-495B-BF20-6A20A3AC6037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>
            <a:off x="7862094" y="753269"/>
            <a:ext cx="2320925" cy="5351463"/>
          </a:xfrm>
          <a:prstGeom prst="curvedConnector4">
            <a:avLst>
              <a:gd name="adj1" fmla="val 12380"/>
              <a:gd name="adj2" fmla="val 104241"/>
            </a:avLst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20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47" dur="20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2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2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2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2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zövegdoboz 3">
            <a:extLst>
              <a:ext uri="{FF2B5EF4-FFF2-40B4-BE49-F238E27FC236}">
                <a16:creationId xmlns:a16="http://schemas.microsoft.com/office/drawing/2014/main" id="{C6247663-E230-4833-B3AF-685D735A7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406400"/>
            <a:ext cx="11155362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Döntési folyamat LAN csomópont szinten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Keret érkezik a kapcsolóhoz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Szórás?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solidFill>
                  <a:srgbClr val="33CC33"/>
                </a:solidFill>
                <a:latin typeface="Verdana" panose="020B0604030504040204" pitchFamily="34" charset="0"/>
              </a:rPr>
              <a:t>Igen</a:t>
            </a:r>
            <a:r>
              <a:rPr lang="hu-HU" altLang="hu-HU">
                <a:latin typeface="Verdana" panose="020B0604030504040204" pitchFamily="34" charset="0"/>
              </a:rPr>
              <a:t>: minden egyéb porton kiküldi (SZÓRÁS)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Nem: 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Benne van a táblázatban (MAC table)?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solidFill>
                  <a:srgbClr val="FF00FF"/>
                </a:solidFill>
                <a:latin typeface="Verdana" panose="020B0604030504040204" pitchFamily="34" charset="0"/>
              </a:rPr>
              <a:t>Igen</a:t>
            </a:r>
            <a:r>
              <a:rPr lang="hu-HU" altLang="hu-HU" sz="2400">
                <a:latin typeface="Verdana" panose="020B0604030504040204" pitchFamily="34" charset="0"/>
              </a:rPr>
              <a:t>: Arra felé továbbítja (és fiatalítjuk a bejegyzést)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solidFill>
                  <a:srgbClr val="FF3300"/>
                </a:solidFill>
                <a:latin typeface="Verdana" panose="020B0604030504040204" pitchFamily="34" charset="0"/>
              </a:rPr>
              <a:t>Nem</a:t>
            </a:r>
            <a:r>
              <a:rPr lang="hu-HU" altLang="hu-HU" sz="2400">
                <a:latin typeface="Verdana" panose="020B0604030504040204" pitchFamily="34" charset="0"/>
              </a:rPr>
              <a:t>: minden egyéb porton kiküldi (ELÁRASZTÁS)</a:t>
            </a:r>
            <a:endParaRPr lang="hu-HU" altLang="hu-HU" sz="160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Feladót betesszük a táblázatba (Insert vagy Update – „csecsemő”)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„Öregítjük” a táblázat minden bejegyzését</a:t>
            </a: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A0BE72D4-14A5-44E8-A384-9BCBD5844F57}"/>
              </a:ext>
            </a:extLst>
          </p:cNvPr>
          <p:cNvSpPr/>
          <p:nvPr/>
        </p:nvSpPr>
        <p:spPr>
          <a:xfrm>
            <a:off x="39116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3" name="Ellipszis 2">
            <a:extLst>
              <a:ext uri="{FF2B5EF4-FFF2-40B4-BE49-F238E27FC236}">
                <a16:creationId xmlns:a16="http://schemas.microsoft.com/office/drawing/2014/main" id="{67C0122D-65AF-49F4-AA9E-BEF31073566A}"/>
              </a:ext>
            </a:extLst>
          </p:cNvPr>
          <p:cNvSpPr/>
          <p:nvPr/>
        </p:nvSpPr>
        <p:spPr>
          <a:xfrm>
            <a:off x="5784850" y="4545013"/>
            <a:ext cx="658813" cy="6492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/>
              <a:t>R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81867ED7-5CE4-4084-8F48-14B837761734}"/>
              </a:ext>
            </a:extLst>
          </p:cNvPr>
          <p:cNvSpPr/>
          <p:nvPr/>
        </p:nvSpPr>
        <p:spPr>
          <a:xfrm>
            <a:off x="75692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2AC0D928-44F7-4698-B32D-B69965F54BE4}"/>
              </a:ext>
            </a:extLst>
          </p:cNvPr>
          <p:cNvSpPr/>
          <p:nvPr/>
        </p:nvSpPr>
        <p:spPr>
          <a:xfrm>
            <a:off x="2298700" y="53594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C82EDD5F-0B16-43BE-BB60-CF7C9501EE33}"/>
              </a:ext>
            </a:extLst>
          </p:cNvPr>
          <p:cNvSpPr/>
          <p:nvPr/>
        </p:nvSpPr>
        <p:spPr>
          <a:xfrm>
            <a:off x="22987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5624A6D7-5388-4967-BB83-BE6255E4E216}"/>
              </a:ext>
            </a:extLst>
          </p:cNvPr>
          <p:cNvSpPr/>
          <p:nvPr/>
        </p:nvSpPr>
        <p:spPr>
          <a:xfrm>
            <a:off x="9093200" y="526573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196AC28E-C10B-4C65-A3A0-7AC66ABEA3C9}"/>
              </a:ext>
            </a:extLst>
          </p:cNvPr>
          <p:cNvSpPr/>
          <p:nvPr/>
        </p:nvSpPr>
        <p:spPr>
          <a:xfrm>
            <a:off x="90932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66"/>
                </a:solidFill>
                <a:latin typeface="Calibri" panose="020F0502020204030204" pitchFamily="34" charset="0"/>
              </a:rPr>
              <a:t>F</a:t>
            </a: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829FA077-4A0A-4DC7-B974-710B6C31A006}"/>
              </a:ext>
            </a:extLst>
          </p:cNvPr>
          <p:cNvCxnSpPr>
            <a:stCxn id="7" idx="3"/>
          </p:cNvCxnSpPr>
          <p:nvPr/>
        </p:nvCxnSpPr>
        <p:spPr>
          <a:xfrm>
            <a:off x="2998788" y="4743450"/>
            <a:ext cx="9128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4985C604-BA8F-4F83-9D2A-73DF877DCC80}"/>
              </a:ext>
            </a:extLst>
          </p:cNvPr>
          <p:cNvCxnSpPr>
            <a:stCxn id="4" idx="3"/>
          </p:cNvCxnSpPr>
          <p:nvPr/>
        </p:nvCxnSpPr>
        <p:spPr>
          <a:xfrm flipV="1">
            <a:off x="2998788" y="5062538"/>
            <a:ext cx="912812" cy="4953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F8938831-ACBA-4659-B74C-033E4BE972F1}"/>
              </a:ext>
            </a:extLst>
          </p:cNvPr>
          <p:cNvCxnSpPr>
            <a:stCxn id="9" idx="1"/>
          </p:cNvCxnSpPr>
          <p:nvPr/>
        </p:nvCxnSpPr>
        <p:spPr>
          <a:xfrm flipH="1">
            <a:off x="8318500" y="4743450"/>
            <a:ext cx="774700" cy="174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DE702957-2636-46E6-8D68-92E826860ED4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8318500" y="4906963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zögletes összekötő 17">
            <a:extLst>
              <a:ext uri="{FF2B5EF4-FFF2-40B4-BE49-F238E27FC236}">
                <a16:creationId xmlns:a16="http://schemas.microsoft.com/office/drawing/2014/main" id="{10314937-79C3-4C36-9B54-1F4E3E379A81}"/>
              </a:ext>
            </a:extLst>
          </p:cNvPr>
          <p:cNvCxnSpPr>
            <a:stCxn id="2" idx="3"/>
            <a:endCxn id="3" idx="2"/>
          </p:cNvCxnSpPr>
          <p:nvPr/>
        </p:nvCxnSpPr>
        <p:spPr>
          <a:xfrm flipV="1">
            <a:off x="4660900" y="4870450"/>
            <a:ext cx="1123950" cy="3651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örbe összekötő 19">
            <a:extLst>
              <a:ext uri="{FF2B5EF4-FFF2-40B4-BE49-F238E27FC236}">
                <a16:creationId xmlns:a16="http://schemas.microsoft.com/office/drawing/2014/main" id="{E38EF187-E99C-45FC-A179-6BB4E078E6DD}"/>
              </a:ext>
            </a:extLst>
          </p:cNvPr>
          <p:cNvCxnSpPr>
            <a:stCxn id="3" idx="6"/>
          </p:cNvCxnSpPr>
          <p:nvPr/>
        </p:nvCxnSpPr>
        <p:spPr>
          <a:xfrm>
            <a:off x="6443663" y="4870450"/>
            <a:ext cx="1125537" cy="19208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DDC11073-9408-4EE7-A5F4-BCC098AFA806}"/>
              </a:ext>
            </a:extLst>
          </p:cNvPr>
          <p:cNvSpPr/>
          <p:nvPr/>
        </p:nvSpPr>
        <p:spPr>
          <a:xfrm>
            <a:off x="4978400" y="5321300"/>
            <a:ext cx="749300" cy="725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cxnSp>
        <p:nvCxnSpPr>
          <p:cNvPr id="23" name="Görbe összekötő 22">
            <a:extLst>
              <a:ext uri="{FF2B5EF4-FFF2-40B4-BE49-F238E27FC236}">
                <a16:creationId xmlns:a16="http://schemas.microsoft.com/office/drawing/2014/main" id="{C6EBB8E8-303B-4632-B2C3-8A9C4A7F70CB}"/>
              </a:ext>
            </a:extLst>
          </p:cNvPr>
          <p:cNvCxnSpPr>
            <a:stCxn id="22" idx="0"/>
            <a:endCxn id="3" idx="3"/>
          </p:cNvCxnSpPr>
          <p:nvPr/>
        </p:nvCxnSpPr>
        <p:spPr>
          <a:xfrm rot="5400000" flipH="1" flipV="1">
            <a:off x="5506244" y="4945856"/>
            <a:ext cx="222250" cy="52863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37C1EAEC-EA33-4BC3-B977-E5206AB9B72D}"/>
              </a:ext>
            </a:extLst>
          </p:cNvPr>
          <p:cNvSpPr/>
          <p:nvPr/>
        </p:nvSpPr>
        <p:spPr>
          <a:xfrm>
            <a:off x="4025900" y="57388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66"/>
                </a:solidFill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895501D2-8DDD-4E17-AC1C-C42E64222E50}"/>
              </a:ext>
            </a:extLst>
          </p:cNvPr>
          <p:cNvSpPr/>
          <p:nvPr/>
        </p:nvSpPr>
        <p:spPr>
          <a:xfrm>
            <a:off x="6151563" y="5651500"/>
            <a:ext cx="700087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66"/>
                </a:solidFill>
                <a:latin typeface="Calibri" panose="020F0502020204030204" pitchFamily="34" charset="0"/>
              </a:rPr>
              <a:t>C</a:t>
            </a:r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50A53521-F9A4-47DA-AD11-ED0FF2187AE1}"/>
              </a:ext>
            </a:extLst>
          </p:cNvPr>
          <p:cNvSpPr/>
          <p:nvPr/>
        </p:nvSpPr>
        <p:spPr>
          <a:xfrm>
            <a:off x="7742238" y="5653088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0F6BFEA3-F48D-49F6-95A0-86675829EA47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7742238" y="5270500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78" name="AutoShape 24">
            <a:extLst>
              <a:ext uri="{FF2B5EF4-FFF2-40B4-BE49-F238E27FC236}">
                <a16:creationId xmlns:a16="http://schemas.microsoft.com/office/drawing/2014/main" id="{12CA2922-2580-4D0B-8B3E-5441DC111644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>
            <a:off x="7862094" y="804069"/>
            <a:ext cx="2320925" cy="5351463"/>
          </a:xfrm>
          <a:prstGeom prst="curvedConnector4">
            <a:avLst>
              <a:gd name="adj1" fmla="val 12380"/>
              <a:gd name="adj2" fmla="val 104241"/>
            </a:avLst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Görbe összekötő 19">
            <a:extLst>
              <a:ext uri="{FF2B5EF4-FFF2-40B4-BE49-F238E27FC236}">
                <a16:creationId xmlns:a16="http://schemas.microsoft.com/office/drawing/2014/main" id="{CCCD0527-4E80-4B8C-9025-219130380754}"/>
              </a:ext>
            </a:extLst>
          </p:cNvPr>
          <p:cNvCxnSpPr>
            <a:stCxn id="3" idx="6"/>
          </p:cNvCxnSpPr>
          <p:nvPr/>
        </p:nvCxnSpPr>
        <p:spPr>
          <a:xfrm>
            <a:off x="6443663" y="4870450"/>
            <a:ext cx="1125537" cy="19208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örbe összekötő 29">
            <a:extLst>
              <a:ext uri="{FF2B5EF4-FFF2-40B4-BE49-F238E27FC236}">
                <a16:creationId xmlns:a16="http://schemas.microsoft.com/office/drawing/2014/main" id="{26A80058-D0A9-4C52-9871-2C13097B375A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7742238" y="5270500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zögletes összekötő 15">
            <a:extLst>
              <a:ext uri="{FF2B5EF4-FFF2-40B4-BE49-F238E27FC236}">
                <a16:creationId xmlns:a16="http://schemas.microsoft.com/office/drawing/2014/main" id="{6485E965-0E37-4989-927C-D572607A58B3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8318500" y="4906963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örbe összekötő 19">
            <a:extLst>
              <a:ext uri="{FF2B5EF4-FFF2-40B4-BE49-F238E27FC236}">
                <a16:creationId xmlns:a16="http://schemas.microsoft.com/office/drawing/2014/main" id="{3700D9C6-ADC1-4231-BA33-505EE0D3F7EF}"/>
              </a:ext>
            </a:extLst>
          </p:cNvPr>
          <p:cNvCxnSpPr>
            <a:stCxn id="3" idx="6"/>
          </p:cNvCxnSpPr>
          <p:nvPr/>
        </p:nvCxnSpPr>
        <p:spPr>
          <a:xfrm>
            <a:off x="6443663" y="4870450"/>
            <a:ext cx="1125537" cy="19208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örbe összekötő 29">
            <a:extLst>
              <a:ext uri="{FF2B5EF4-FFF2-40B4-BE49-F238E27FC236}">
                <a16:creationId xmlns:a16="http://schemas.microsoft.com/office/drawing/2014/main" id="{9033484C-DEF7-4B5E-89D1-B25C8B6DBBF4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7742238" y="5270500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36" name="Szögletes összekötő 39935">
            <a:extLst>
              <a:ext uri="{FF2B5EF4-FFF2-40B4-BE49-F238E27FC236}">
                <a16:creationId xmlns:a16="http://schemas.microsoft.com/office/drawing/2014/main" id="{6FD4D88E-696C-423A-9FCB-5BA9C0E82119}"/>
              </a:ext>
            </a:extLst>
          </p:cNvPr>
          <p:cNvCxnSpPr>
            <a:stCxn id="26" idx="1"/>
            <a:endCxn id="22" idx="3"/>
          </p:cNvCxnSpPr>
          <p:nvPr/>
        </p:nvCxnSpPr>
        <p:spPr>
          <a:xfrm rot="10800000">
            <a:off x="5722938" y="5684838"/>
            <a:ext cx="423862" cy="16351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40" name="Szögletes összekötő 39939">
            <a:extLst>
              <a:ext uri="{FF2B5EF4-FFF2-40B4-BE49-F238E27FC236}">
                <a16:creationId xmlns:a16="http://schemas.microsoft.com/office/drawing/2014/main" id="{67104A89-A369-4470-AB5C-B0405BD39829}"/>
              </a:ext>
            </a:extLst>
          </p:cNvPr>
          <p:cNvCxnSpPr>
            <a:endCxn id="22" idx="1"/>
          </p:cNvCxnSpPr>
          <p:nvPr/>
        </p:nvCxnSpPr>
        <p:spPr>
          <a:xfrm flipV="1">
            <a:off x="4687888" y="5684838"/>
            <a:ext cx="298450" cy="9366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9">
            <a:extLst>
              <a:ext uri="{FF2B5EF4-FFF2-40B4-BE49-F238E27FC236}">
                <a16:creationId xmlns:a16="http://schemas.microsoft.com/office/drawing/2014/main" id="{494F25B2-03D1-4C57-B65C-85481941CAF9}"/>
              </a:ext>
            </a:extLst>
          </p:cNvPr>
          <p:cNvCxnSpPr>
            <a:stCxn id="7" idx="3"/>
          </p:cNvCxnSpPr>
          <p:nvPr/>
        </p:nvCxnSpPr>
        <p:spPr>
          <a:xfrm>
            <a:off x="2998788" y="4743450"/>
            <a:ext cx="9128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nyíllal 11">
            <a:extLst>
              <a:ext uri="{FF2B5EF4-FFF2-40B4-BE49-F238E27FC236}">
                <a16:creationId xmlns:a16="http://schemas.microsoft.com/office/drawing/2014/main" id="{26217506-7F14-4409-BF74-A7464268C667}"/>
              </a:ext>
            </a:extLst>
          </p:cNvPr>
          <p:cNvCxnSpPr>
            <a:stCxn id="4" idx="3"/>
          </p:cNvCxnSpPr>
          <p:nvPr/>
        </p:nvCxnSpPr>
        <p:spPr>
          <a:xfrm flipV="1">
            <a:off x="2998788" y="5062538"/>
            <a:ext cx="912812" cy="4953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zögletes összekötő 17">
            <a:extLst>
              <a:ext uri="{FF2B5EF4-FFF2-40B4-BE49-F238E27FC236}">
                <a16:creationId xmlns:a16="http://schemas.microsoft.com/office/drawing/2014/main" id="{477D6DC4-59FA-4D48-A26C-41199C1A0C18}"/>
              </a:ext>
            </a:extLst>
          </p:cNvPr>
          <p:cNvCxnSpPr>
            <a:stCxn id="2" idx="3"/>
            <a:endCxn id="3" idx="2"/>
          </p:cNvCxnSpPr>
          <p:nvPr/>
        </p:nvCxnSpPr>
        <p:spPr>
          <a:xfrm flipV="1">
            <a:off x="4660900" y="4870450"/>
            <a:ext cx="1123950" cy="3651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nyíllal 9">
            <a:extLst>
              <a:ext uri="{FF2B5EF4-FFF2-40B4-BE49-F238E27FC236}">
                <a16:creationId xmlns:a16="http://schemas.microsoft.com/office/drawing/2014/main" id="{C04745C4-9F2F-4A4E-A152-BADA69876686}"/>
              </a:ext>
            </a:extLst>
          </p:cNvPr>
          <p:cNvCxnSpPr>
            <a:stCxn id="7" idx="3"/>
          </p:cNvCxnSpPr>
          <p:nvPr/>
        </p:nvCxnSpPr>
        <p:spPr>
          <a:xfrm>
            <a:off x="2998788" y="4743450"/>
            <a:ext cx="9128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gyenes összekötő nyíllal 11">
            <a:extLst>
              <a:ext uri="{FF2B5EF4-FFF2-40B4-BE49-F238E27FC236}">
                <a16:creationId xmlns:a16="http://schemas.microsoft.com/office/drawing/2014/main" id="{44769245-6E14-4CA1-8769-3BBD79FC6A98}"/>
              </a:ext>
            </a:extLst>
          </p:cNvPr>
          <p:cNvCxnSpPr>
            <a:stCxn id="4" idx="3"/>
          </p:cNvCxnSpPr>
          <p:nvPr/>
        </p:nvCxnSpPr>
        <p:spPr>
          <a:xfrm flipV="1">
            <a:off x="2998788" y="5062538"/>
            <a:ext cx="912812" cy="4953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9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9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9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93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93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2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0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53" dur="20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2000" fill="hold"/>
                                        <p:tgtEl>
                                          <p:spTgt spid="399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399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93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93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7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93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93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93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93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zövegdoboz 3">
            <a:extLst>
              <a:ext uri="{FF2B5EF4-FFF2-40B4-BE49-F238E27FC236}">
                <a16:creationId xmlns:a16="http://schemas.microsoft.com/office/drawing/2014/main" id="{E4E0AF8D-7CD9-4088-9054-900155EF8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Döntési folyamat WAN csomópont szinten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Csomag érkezik az útválasztóhoz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Saját IP-re szól?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solidFill>
                  <a:srgbClr val="33CC33"/>
                </a:solidFill>
                <a:latin typeface="Verdana" panose="020B0604030504040204" pitchFamily="34" charset="0"/>
              </a:rPr>
              <a:t>Igen</a:t>
            </a:r>
            <a:r>
              <a:rPr lang="hu-HU" altLang="hu-HU">
                <a:latin typeface="Verdana" panose="020B0604030504040204" pitchFamily="34" charset="0"/>
              </a:rPr>
              <a:t>: címzettként kezeli (Válaszol, konfigurálódik stb.)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Nem: 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Benne van a táblázatban (Irányítótábla)?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solidFill>
                  <a:srgbClr val="FF00FF"/>
                </a:solidFill>
                <a:latin typeface="Verdana" panose="020B0604030504040204" pitchFamily="34" charset="0"/>
              </a:rPr>
              <a:t>Igen</a:t>
            </a:r>
            <a:r>
              <a:rPr lang="hu-HU" altLang="hu-HU" sz="2400">
                <a:latin typeface="Verdana" panose="020B0604030504040204" pitchFamily="34" charset="0"/>
              </a:rPr>
              <a:t>: Arra felé továbbítja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solidFill>
                  <a:srgbClr val="FF3300"/>
                </a:solidFill>
                <a:latin typeface="Verdana" panose="020B0604030504040204" pitchFamily="34" charset="0"/>
              </a:rPr>
              <a:t>Nem</a:t>
            </a:r>
            <a:r>
              <a:rPr lang="hu-HU" altLang="hu-HU" sz="2400">
                <a:latin typeface="Verdana" panose="020B0604030504040204" pitchFamily="34" charset="0"/>
              </a:rPr>
              <a:t>: Alapértelmezett irányba továbbítja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Ha nincs ilyen megadva: </a:t>
            </a:r>
            <a:r>
              <a:rPr lang="hu-HU" altLang="hu-HU" sz="2400" b="1">
                <a:latin typeface="Verdana" panose="020B0604030504040204" pitchFamily="34" charset="0"/>
              </a:rPr>
              <a:t>ELDOBJA</a:t>
            </a:r>
            <a:endParaRPr lang="hu-HU" altLang="hu-HU" sz="1600" b="1">
              <a:latin typeface="Verdana" panose="020B0604030504040204" pitchFamily="34" charset="0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FC1426B6-08B4-4015-9AA4-6F6EC679C52F}"/>
              </a:ext>
            </a:extLst>
          </p:cNvPr>
          <p:cNvSpPr/>
          <p:nvPr/>
        </p:nvSpPr>
        <p:spPr>
          <a:xfrm>
            <a:off x="39116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3" name="Ellipszis 2">
            <a:extLst>
              <a:ext uri="{FF2B5EF4-FFF2-40B4-BE49-F238E27FC236}">
                <a16:creationId xmlns:a16="http://schemas.microsoft.com/office/drawing/2014/main" id="{9E77EE3D-88ED-4210-956D-333C1B86C86B}"/>
              </a:ext>
            </a:extLst>
          </p:cNvPr>
          <p:cNvSpPr/>
          <p:nvPr/>
        </p:nvSpPr>
        <p:spPr>
          <a:xfrm>
            <a:off x="5784850" y="4545013"/>
            <a:ext cx="658813" cy="6492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/>
              <a:t>R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F65364E1-031B-429A-A1B9-68A2D1B553ED}"/>
              </a:ext>
            </a:extLst>
          </p:cNvPr>
          <p:cNvSpPr/>
          <p:nvPr/>
        </p:nvSpPr>
        <p:spPr>
          <a:xfrm>
            <a:off x="75692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664485CE-0E25-43CF-BCC3-C926D0C10203}"/>
              </a:ext>
            </a:extLst>
          </p:cNvPr>
          <p:cNvSpPr/>
          <p:nvPr/>
        </p:nvSpPr>
        <p:spPr>
          <a:xfrm>
            <a:off x="2298700" y="53594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C6A4372B-84F8-44B9-8814-D530632A47CE}"/>
              </a:ext>
            </a:extLst>
          </p:cNvPr>
          <p:cNvSpPr/>
          <p:nvPr/>
        </p:nvSpPr>
        <p:spPr>
          <a:xfrm>
            <a:off x="22987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388F4875-45AA-498E-BB4C-12D5C8425882}"/>
              </a:ext>
            </a:extLst>
          </p:cNvPr>
          <p:cNvSpPr/>
          <p:nvPr/>
        </p:nvSpPr>
        <p:spPr>
          <a:xfrm>
            <a:off x="9093200" y="526573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C4FB28E8-DE9E-43DC-8E0A-1DC17EF4BDEA}"/>
              </a:ext>
            </a:extLst>
          </p:cNvPr>
          <p:cNvSpPr/>
          <p:nvPr/>
        </p:nvSpPr>
        <p:spPr>
          <a:xfrm>
            <a:off x="90932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A673AE02-98DD-4B12-8217-1FBD36BC3426}"/>
              </a:ext>
            </a:extLst>
          </p:cNvPr>
          <p:cNvCxnSpPr>
            <a:stCxn id="7" idx="3"/>
          </p:cNvCxnSpPr>
          <p:nvPr/>
        </p:nvCxnSpPr>
        <p:spPr>
          <a:xfrm>
            <a:off x="2998788" y="4743450"/>
            <a:ext cx="9128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2107533D-4BC1-4F56-BC4E-B9F6C1793722}"/>
              </a:ext>
            </a:extLst>
          </p:cNvPr>
          <p:cNvCxnSpPr>
            <a:stCxn id="4" idx="3"/>
          </p:cNvCxnSpPr>
          <p:nvPr/>
        </p:nvCxnSpPr>
        <p:spPr>
          <a:xfrm flipV="1">
            <a:off x="2998788" y="5062538"/>
            <a:ext cx="912812" cy="4953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CA6C15FC-B4F1-4CC3-91CF-D0C629CF7C28}"/>
              </a:ext>
            </a:extLst>
          </p:cNvPr>
          <p:cNvCxnSpPr>
            <a:stCxn id="9" idx="1"/>
          </p:cNvCxnSpPr>
          <p:nvPr/>
        </p:nvCxnSpPr>
        <p:spPr>
          <a:xfrm flipH="1">
            <a:off x="8318500" y="4743450"/>
            <a:ext cx="774700" cy="174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13FD785E-1A43-4618-9CC1-853EC0E947DC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8318500" y="4906963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zögletes összekötő 17">
            <a:extLst>
              <a:ext uri="{FF2B5EF4-FFF2-40B4-BE49-F238E27FC236}">
                <a16:creationId xmlns:a16="http://schemas.microsoft.com/office/drawing/2014/main" id="{ECB24E29-FBDA-4F27-A114-CA36DA8E95CE}"/>
              </a:ext>
            </a:extLst>
          </p:cNvPr>
          <p:cNvCxnSpPr>
            <a:stCxn id="2" idx="3"/>
            <a:endCxn id="3" idx="2"/>
          </p:cNvCxnSpPr>
          <p:nvPr/>
        </p:nvCxnSpPr>
        <p:spPr>
          <a:xfrm flipV="1">
            <a:off x="4660900" y="4870450"/>
            <a:ext cx="1123950" cy="3651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örbe összekötő 19">
            <a:extLst>
              <a:ext uri="{FF2B5EF4-FFF2-40B4-BE49-F238E27FC236}">
                <a16:creationId xmlns:a16="http://schemas.microsoft.com/office/drawing/2014/main" id="{FC3C096C-4F05-4BF3-9E3A-5856A9FC7D44}"/>
              </a:ext>
            </a:extLst>
          </p:cNvPr>
          <p:cNvCxnSpPr>
            <a:stCxn id="3" idx="6"/>
          </p:cNvCxnSpPr>
          <p:nvPr/>
        </p:nvCxnSpPr>
        <p:spPr>
          <a:xfrm>
            <a:off x="6443663" y="4870450"/>
            <a:ext cx="1125537" cy="19208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ACFA25F5-DE1A-4127-977F-87C9D0238D29}"/>
              </a:ext>
            </a:extLst>
          </p:cNvPr>
          <p:cNvSpPr/>
          <p:nvPr/>
        </p:nvSpPr>
        <p:spPr>
          <a:xfrm>
            <a:off x="4978400" y="5321300"/>
            <a:ext cx="749300" cy="725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cxnSp>
        <p:nvCxnSpPr>
          <p:cNvPr id="23" name="Görbe összekötő 22">
            <a:extLst>
              <a:ext uri="{FF2B5EF4-FFF2-40B4-BE49-F238E27FC236}">
                <a16:creationId xmlns:a16="http://schemas.microsoft.com/office/drawing/2014/main" id="{A472226B-E58D-4241-B673-5A78FABF4309}"/>
              </a:ext>
            </a:extLst>
          </p:cNvPr>
          <p:cNvCxnSpPr>
            <a:stCxn id="22" idx="0"/>
            <a:endCxn id="3" idx="3"/>
          </p:cNvCxnSpPr>
          <p:nvPr/>
        </p:nvCxnSpPr>
        <p:spPr>
          <a:xfrm rot="5400000" flipH="1" flipV="1">
            <a:off x="5506244" y="4945856"/>
            <a:ext cx="222250" cy="52863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04C54C0C-41DF-4817-B8F5-866CD3EF5FA1}"/>
              </a:ext>
            </a:extLst>
          </p:cNvPr>
          <p:cNvSpPr/>
          <p:nvPr/>
        </p:nvSpPr>
        <p:spPr>
          <a:xfrm>
            <a:off x="3997325" y="57388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3C28B3C7-1791-4E3C-9A3B-452A2A68D250}"/>
              </a:ext>
            </a:extLst>
          </p:cNvPr>
          <p:cNvSpPr/>
          <p:nvPr/>
        </p:nvSpPr>
        <p:spPr>
          <a:xfrm>
            <a:off x="6151563" y="5651500"/>
            <a:ext cx="700087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B5FE901E-81EA-4094-A900-B153880BDFA1}"/>
              </a:ext>
            </a:extLst>
          </p:cNvPr>
          <p:cNvSpPr/>
          <p:nvPr/>
        </p:nvSpPr>
        <p:spPr>
          <a:xfrm>
            <a:off x="7742238" y="5653088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5B6ECD5E-3C8D-490D-819A-2AB6249DF1A1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7742238" y="5270500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36" name="Szögletes összekötő 39935">
            <a:extLst>
              <a:ext uri="{FF2B5EF4-FFF2-40B4-BE49-F238E27FC236}">
                <a16:creationId xmlns:a16="http://schemas.microsoft.com/office/drawing/2014/main" id="{F13102C1-F8FB-4159-8E03-B8B8F6AC8EE9}"/>
              </a:ext>
            </a:extLst>
          </p:cNvPr>
          <p:cNvCxnSpPr>
            <a:stCxn id="26" idx="1"/>
            <a:endCxn id="22" idx="3"/>
          </p:cNvCxnSpPr>
          <p:nvPr/>
        </p:nvCxnSpPr>
        <p:spPr>
          <a:xfrm rot="10800000">
            <a:off x="5727700" y="5684838"/>
            <a:ext cx="423863" cy="16351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40" name="Szögletes összekötő 39939">
            <a:extLst>
              <a:ext uri="{FF2B5EF4-FFF2-40B4-BE49-F238E27FC236}">
                <a16:creationId xmlns:a16="http://schemas.microsoft.com/office/drawing/2014/main" id="{8B43B678-0893-4D96-95D8-E4D26C72851F}"/>
              </a:ext>
            </a:extLst>
          </p:cNvPr>
          <p:cNvCxnSpPr>
            <a:endCxn id="22" idx="1"/>
          </p:cNvCxnSpPr>
          <p:nvPr/>
        </p:nvCxnSpPr>
        <p:spPr>
          <a:xfrm flipV="1">
            <a:off x="4679950" y="5684838"/>
            <a:ext cx="298450" cy="9366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60" name="AutoShape 24">
            <a:extLst>
              <a:ext uri="{FF2B5EF4-FFF2-40B4-BE49-F238E27FC236}">
                <a16:creationId xmlns:a16="http://schemas.microsoft.com/office/drawing/2014/main" id="{FC6A372E-DCB0-4436-9FFD-138C960196F8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>
            <a:off x="7862094" y="753269"/>
            <a:ext cx="2320925" cy="5351463"/>
          </a:xfrm>
          <a:prstGeom prst="curvedConnector4">
            <a:avLst>
              <a:gd name="adj1" fmla="val 12380"/>
              <a:gd name="adj2" fmla="val 104241"/>
            </a:avLst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000" fill="hold"/>
                                        <p:tgtEl>
                                          <p:spTgt spid="655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655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zövegdoboz 3">
            <a:extLst>
              <a:ext uri="{FF2B5EF4-FFF2-40B4-BE49-F238E27FC236}">
                <a16:creationId xmlns:a16="http://schemas.microsoft.com/office/drawing/2014/main" id="{4529F494-EE90-4CCF-A892-92E759026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5400" dirty="0">
                <a:latin typeface="Verdana" panose="020B0604030504040204" pitchFamily="34" charset="0"/>
              </a:rPr>
              <a:t>W&amp;WL Network 3. rész</a:t>
            </a:r>
            <a:endParaRPr lang="hu-HU" altLang="hu-HU" sz="40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196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zövegdoboz 3">
            <a:extLst>
              <a:ext uri="{FF2B5EF4-FFF2-40B4-BE49-F238E27FC236}">
                <a16:creationId xmlns:a16="http://schemas.microsoft.com/office/drawing/2014/main" id="{AE9E8776-59E1-4E41-A5B4-305CB4DCB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Kapcsolási problémák - hurok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Szórásos üzenet érkezik a kapcsolóhoz (SW1)</a:t>
            </a: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397F3819-8492-4EF1-B0B5-304FA9E309E3}"/>
              </a:ext>
            </a:extLst>
          </p:cNvPr>
          <p:cNvSpPr/>
          <p:nvPr/>
        </p:nvSpPr>
        <p:spPr>
          <a:xfrm>
            <a:off x="3192463" y="44973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SW1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0F449838-877D-4B18-836F-7D5A093DFB62}"/>
              </a:ext>
            </a:extLst>
          </p:cNvPr>
          <p:cNvSpPr/>
          <p:nvPr/>
        </p:nvSpPr>
        <p:spPr>
          <a:xfrm>
            <a:off x="6289675" y="44719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SW2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813F8240-6DDC-43CE-8C02-2745D4CF64BB}"/>
              </a:ext>
            </a:extLst>
          </p:cNvPr>
          <p:cNvSpPr/>
          <p:nvPr/>
        </p:nvSpPr>
        <p:spPr>
          <a:xfrm>
            <a:off x="1628775" y="53721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F638E38A-DAA5-4A75-8575-3288A2A4F57D}"/>
              </a:ext>
            </a:extLst>
          </p:cNvPr>
          <p:cNvSpPr/>
          <p:nvPr/>
        </p:nvSpPr>
        <p:spPr>
          <a:xfrm>
            <a:off x="1616075" y="466566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6254B966-D489-4DF9-801A-0E1B4EA07CC2}"/>
              </a:ext>
            </a:extLst>
          </p:cNvPr>
          <p:cNvSpPr/>
          <p:nvPr/>
        </p:nvSpPr>
        <p:spPr>
          <a:xfrm>
            <a:off x="7813675" y="51927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2CDD55C6-3BE0-4D3A-91CD-42ABEA6551C5}"/>
              </a:ext>
            </a:extLst>
          </p:cNvPr>
          <p:cNvSpPr/>
          <p:nvPr/>
        </p:nvSpPr>
        <p:spPr>
          <a:xfrm>
            <a:off x="7813675" y="447198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21513" name="Egyenes összekötő nyíllal 9">
            <a:extLst>
              <a:ext uri="{FF2B5EF4-FFF2-40B4-BE49-F238E27FC236}">
                <a16:creationId xmlns:a16="http://schemas.microsoft.com/office/drawing/2014/main" id="{5254C7E6-8A55-417F-BA3E-65FC71A42E9A}"/>
              </a:ext>
            </a:extLst>
          </p:cNvPr>
          <p:cNvCxnSpPr>
            <a:cxnSpLocks noChangeShapeType="1"/>
            <a:stCxn id="7" idx="3"/>
            <a:endCxn id="2" idx="1"/>
          </p:cNvCxnSpPr>
          <p:nvPr/>
        </p:nvCxnSpPr>
        <p:spPr bwMode="auto">
          <a:xfrm flipV="1">
            <a:off x="2316163" y="4860925"/>
            <a:ext cx="876300" cy="31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30218FF3-9ADE-4C1C-B762-9DC5D5B3125F}"/>
              </a:ext>
            </a:extLst>
          </p:cNvPr>
          <p:cNvCxnSpPr>
            <a:stCxn id="4" idx="3"/>
            <a:endCxn id="2" idx="2"/>
          </p:cNvCxnSpPr>
          <p:nvPr/>
        </p:nvCxnSpPr>
        <p:spPr>
          <a:xfrm flipV="1">
            <a:off x="2328863" y="5222875"/>
            <a:ext cx="1238250" cy="3476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4BEE38CE-3C5F-4C19-B845-D4D5603A69D6}"/>
              </a:ext>
            </a:extLst>
          </p:cNvPr>
          <p:cNvCxnSpPr>
            <a:stCxn id="9" idx="1"/>
          </p:cNvCxnSpPr>
          <p:nvPr/>
        </p:nvCxnSpPr>
        <p:spPr>
          <a:xfrm flipH="1">
            <a:off x="7038975" y="4670425"/>
            <a:ext cx="774700" cy="174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F1197D68-EC79-405D-9939-E0C24244AC73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7038975" y="4833938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17" name="Szögletes összekötő 17">
            <a:extLst>
              <a:ext uri="{FF2B5EF4-FFF2-40B4-BE49-F238E27FC236}">
                <a16:creationId xmlns:a16="http://schemas.microsoft.com/office/drawing/2014/main" id="{E22BAFC2-6EDF-4375-8A65-E8B1FF76BBA4}"/>
              </a:ext>
            </a:extLst>
          </p:cNvPr>
          <p:cNvCxnSpPr>
            <a:cxnSpLocks noChangeShapeType="1"/>
            <a:stCxn id="2" idx="3"/>
          </p:cNvCxnSpPr>
          <p:nvPr/>
        </p:nvCxnSpPr>
        <p:spPr bwMode="auto">
          <a:xfrm flipV="1">
            <a:off x="3941763" y="4591050"/>
            <a:ext cx="2355850" cy="269875"/>
          </a:xfrm>
          <a:prstGeom prst="bentConnector3">
            <a:avLst>
              <a:gd name="adj1" fmla="val 50000"/>
            </a:avLst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5246E059-10A0-460D-B2F8-BDA1E947011A}"/>
              </a:ext>
            </a:extLst>
          </p:cNvPr>
          <p:cNvSpPr/>
          <p:nvPr/>
        </p:nvSpPr>
        <p:spPr>
          <a:xfrm>
            <a:off x="4198938" y="53705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SW3</a:t>
            </a:r>
          </a:p>
        </p:txBody>
      </p:sp>
      <p:cxnSp>
        <p:nvCxnSpPr>
          <p:cNvPr id="21519" name="Görbe összekötő 22">
            <a:extLst>
              <a:ext uri="{FF2B5EF4-FFF2-40B4-BE49-F238E27FC236}">
                <a16:creationId xmlns:a16="http://schemas.microsoft.com/office/drawing/2014/main" id="{9D431FCA-2637-49EF-BFE7-DAF4CA080D30}"/>
              </a:ext>
            </a:extLst>
          </p:cNvPr>
          <p:cNvCxnSpPr>
            <a:cxnSpLocks noChangeShapeType="1"/>
            <a:stCxn id="22" idx="0"/>
            <a:endCxn id="5" idx="1"/>
          </p:cNvCxnSpPr>
          <p:nvPr/>
        </p:nvCxnSpPr>
        <p:spPr bwMode="auto">
          <a:xfrm rot="-5400000">
            <a:off x="5164138" y="4244975"/>
            <a:ext cx="534988" cy="1716087"/>
          </a:xfrm>
          <a:prstGeom prst="curvedConnector2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3F87DF1E-71D2-4599-A074-5741493DA2D2}"/>
              </a:ext>
            </a:extLst>
          </p:cNvPr>
          <p:cNvSpPr/>
          <p:nvPr/>
        </p:nvSpPr>
        <p:spPr>
          <a:xfrm>
            <a:off x="5289550" y="5629275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2D03225C-7F51-4854-81C1-8ED573929AF5}"/>
              </a:ext>
            </a:extLst>
          </p:cNvPr>
          <p:cNvSpPr/>
          <p:nvPr/>
        </p:nvSpPr>
        <p:spPr>
          <a:xfrm>
            <a:off x="3054350" y="56515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BD5EBD07-8577-4ECA-BC21-FE50AB2AF90E}"/>
              </a:ext>
            </a:extLst>
          </p:cNvPr>
          <p:cNvSpPr/>
          <p:nvPr/>
        </p:nvSpPr>
        <p:spPr>
          <a:xfrm>
            <a:off x="6462713" y="5580063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DDA0CD78-90AF-4F08-A748-7A279B91823C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6462713" y="5197475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24" name="Szögletes összekötő 39939">
            <a:extLst>
              <a:ext uri="{FF2B5EF4-FFF2-40B4-BE49-F238E27FC236}">
                <a16:creationId xmlns:a16="http://schemas.microsoft.com/office/drawing/2014/main" id="{9A7CF551-56F7-4FB5-9BB9-8086339B8417}"/>
              </a:ext>
            </a:extLst>
          </p:cNvPr>
          <p:cNvCxnSpPr>
            <a:cxnSpLocks noChangeShapeType="1"/>
            <a:stCxn id="22" idx="3"/>
          </p:cNvCxnSpPr>
          <p:nvPr/>
        </p:nvCxnSpPr>
        <p:spPr bwMode="auto">
          <a:xfrm>
            <a:off x="4948238" y="5734050"/>
            <a:ext cx="347662" cy="122238"/>
          </a:xfrm>
          <a:prstGeom prst="bentConnector3">
            <a:avLst>
              <a:gd name="adj1" fmla="val 49773"/>
            </a:avLst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5" name="AutoShape 25">
            <a:extLst>
              <a:ext uri="{FF2B5EF4-FFF2-40B4-BE49-F238E27FC236}">
                <a16:creationId xmlns:a16="http://schemas.microsoft.com/office/drawing/2014/main" id="{5611FED4-5B8B-4A00-B731-3232F807246E}"/>
              </a:ext>
            </a:extLst>
          </p:cNvPr>
          <p:cNvCxnSpPr>
            <a:cxnSpLocks noChangeShapeType="1"/>
            <a:stCxn id="26" idx="3"/>
            <a:endCxn id="22" idx="1"/>
          </p:cNvCxnSpPr>
          <p:nvPr/>
        </p:nvCxnSpPr>
        <p:spPr bwMode="auto">
          <a:xfrm flipV="1">
            <a:off x="3754438" y="5734050"/>
            <a:ext cx="444500" cy="115888"/>
          </a:xfrm>
          <a:prstGeom prst="bentConnector3">
            <a:avLst>
              <a:gd name="adj1" fmla="val 49644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6" name="AutoShape 26">
            <a:extLst>
              <a:ext uri="{FF2B5EF4-FFF2-40B4-BE49-F238E27FC236}">
                <a16:creationId xmlns:a16="http://schemas.microsoft.com/office/drawing/2014/main" id="{AC8F88E1-37B0-4E96-AEC1-5C1931086727}"/>
              </a:ext>
            </a:extLst>
          </p:cNvPr>
          <p:cNvCxnSpPr>
            <a:cxnSpLocks noChangeShapeType="1"/>
            <a:stCxn id="2" idx="3"/>
            <a:endCxn id="22" idx="1"/>
          </p:cNvCxnSpPr>
          <p:nvPr/>
        </p:nvCxnSpPr>
        <p:spPr bwMode="auto">
          <a:xfrm>
            <a:off x="3941763" y="4860925"/>
            <a:ext cx="257175" cy="87312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zövegdoboz 3">
            <a:extLst>
              <a:ext uri="{FF2B5EF4-FFF2-40B4-BE49-F238E27FC236}">
                <a16:creationId xmlns:a16="http://schemas.microsoft.com/office/drawing/2014/main" id="{8A9EEA43-A5E8-4319-8DB0-534A4EAC4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Kapcsolási problémák - hurok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Szórásos üzenet érkezik a kapcsolóhoz (SW1)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Mindenfelé továbbítja</a:t>
            </a: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8CC44DF3-5587-4F3A-8B4A-4E469ED9F0FC}"/>
              </a:ext>
            </a:extLst>
          </p:cNvPr>
          <p:cNvSpPr/>
          <p:nvPr/>
        </p:nvSpPr>
        <p:spPr>
          <a:xfrm>
            <a:off x="3192463" y="44973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SW1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7B3E400A-8C35-4B57-9B79-2E27ED144BF3}"/>
              </a:ext>
            </a:extLst>
          </p:cNvPr>
          <p:cNvSpPr/>
          <p:nvPr/>
        </p:nvSpPr>
        <p:spPr>
          <a:xfrm>
            <a:off x="6289675" y="44719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SW2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AC68AEAA-4998-42DA-88DA-83DFE4565189}"/>
              </a:ext>
            </a:extLst>
          </p:cNvPr>
          <p:cNvSpPr/>
          <p:nvPr/>
        </p:nvSpPr>
        <p:spPr>
          <a:xfrm>
            <a:off x="1628775" y="53721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B3844BCE-4C9E-4E81-942B-2970789900CA}"/>
              </a:ext>
            </a:extLst>
          </p:cNvPr>
          <p:cNvSpPr/>
          <p:nvPr/>
        </p:nvSpPr>
        <p:spPr>
          <a:xfrm>
            <a:off x="1616075" y="466566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3BD547FF-37AA-42FB-80CB-3FDCFBBA574F}"/>
              </a:ext>
            </a:extLst>
          </p:cNvPr>
          <p:cNvSpPr/>
          <p:nvPr/>
        </p:nvSpPr>
        <p:spPr>
          <a:xfrm>
            <a:off x="7813675" y="51927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D0B77468-885D-4A93-92D8-F3B6E97D69B7}"/>
              </a:ext>
            </a:extLst>
          </p:cNvPr>
          <p:cNvSpPr/>
          <p:nvPr/>
        </p:nvSpPr>
        <p:spPr>
          <a:xfrm>
            <a:off x="7813675" y="447198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22537" name="Egyenes összekötő nyíllal 9">
            <a:extLst>
              <a:ext uri="{FF2B5EF4-FFF2-40B4-BE49-F238E27FC236}">
                <a16:creationId xmlns:a16="http://schemas.microsoft.com/office/drawing/2014/main" id="{804B5CE6-EFA0-4AC9-A556-495719313A37}"/>
              </a:ext>
            </a:extLst>
          </p:cNvPr>
          <p:cNvCxnSpPr>
            <a:cxnSpLocks noChangeShapeType="1"/>
            <a:stCxn id="7" idx="3"/>
            <a:endCxn id="2" idx="1"/>
          </p:cNvCxnSpPr>
          <p:nvPr/>
        </p:nvCxnSpPr>
        <p:spPr bwMode="auto">
          <a:xfrm flipV="1">
            <a:off x="2316163" y="4860925"/>
            <a:ext cx="876300" cy="3175"/>
          </a:xfrm>
          <a:prstGeom prst="straightConnector1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8" name="Egyenes összekötő nyíllal 11">
            <a:extLst>
              <a:ext uri="{FF2B5EF4-FFF2-40B4-BE49-F238E27FC236}">
                <a16:creationId xmlns:a16="http://schemas.microsoft.com/office/drawing/2014/main" id="{D668D1C5-4517-4AE4-9A21-ADE9430DB51F}"/>
              </a:ext>
            </a:extLst>
          </p:cNvPr>
          <p:cNvCxnSpPr>
            <a:cxnSpLocks noChangeShapeType="1"/>
            <a:stCxn id="4" idx="3"/>
            <a:endCxn id="2" idx="2"/>
          </p:cNvCxnSpPr>
          <p:nvPr/>
        </p:nvCxnSpPr>
        <p:spPr bwMode="auto">
          <a:xfrm flipV="1">
            <a:off x="2328863" y="5222875"/>
            <a:ext cx="1238250" cy="347663"/>
          </a:xfrm>
          <a:prstGeom prst="straightConnector1">
            <a:avLst/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8F9D1C38-516F-4F66-84F0-38D80E9DC5DD}"/>
              </a:ext>
            </a:extLst>
          </p:cNvPr>
          <p:cNvCxnSpPr>
            <a:stCxn id="9" idx="1"/>
          </p:cNvCxnSpPr>
          <p:nvPr/>
        </p:nvCxnSpPr>
        <p:spPr>
          <a:xfrm flipH="1">
            <a:off x="7038975" y="4670425"/>
            <a:ext cx="774700" cy="174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E77687B0-B00A-4DDE-B4A4-0339636F4702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7038975" y="4833938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41" name="Szögletes összekötő 17">
            <a:extLst>
              <a:ext uri="{FF2B5EF4-FFF2-40B4-BE49-F238E27FC236}">
                <a16:creationId xmlns:a16="http://schemas.microsoft.com/office/drawing/2014/main" id="{6F282E05-CBC2-442A-8B2F-0974D6E104DA}"/>
              </a:ext>
            </a:extLst>
          </p:cNvPr>
          <p:cNvCxnSpPr>
            <a:cxnSpLocks noChangeShapeType="1"/>
            <a:stCxn id="2" idx="3"/>
          </p:cNvCxnSpPr>
          <p:nvPr/>
        </p:nvCxnSpPr>
        <p:spPr bwMode="auto">
          <a:xfrm flipV="1">
            <a:off x="3941763" y="4591050"/>
            <a:ext cx="2355850" cy="269875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06718D61-944F-4258-8938-F835A07F3387}"/>
              </a:ext>
            </a:extLst>
          </p:cNvPr>
          <p:cNvSpPr/>
          <p:nvPr/>
        </p:nvSpPr>
        <p:spPr>
          <a:xfrm>
            <a:off x="4198938" y="53705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SW3</a:t>
            </a:r>
          </a:p>
        </p:txBody>
      </p:sp>
      <p:cxnSp>
        <p:nvCxnSpPr>
          <p:cNvPr id="22543" name="Görbe összekötő 22">
            <a:extLst>
              <a:ext uri="{FF2B5EF4-FFF2-40B4-BE49-F238E27FC236}">
                <a16:creationId xmlns:a16="http://schemas.microsoft.com/office/drawing/2014/main" id="{6EA52B8A-A19E-4B84-944F-8B7498ED0067}"/>
              </a:ext>
            </a:extLst>
          </p:cNvPr>
          <p:cNvCxnSpPr>
            <a:cxnSpLocks noChangeShapeType="1"/>
            <a:stCxn id="22" idx="0"/>
            <a:endCxn id="5" idx="1"/>
          </p:cNvCxnSpPr>
          <p:nvPr/>
        </p:nvCxnSpPr>
        <p:spPr bwMode="auto">
          <a:xfrm rot="-5400000">
            <a:off x="5164138" y="4244975"/>
            <a:ext cx="534988" cy="1716087"/>
          </a:xfrm>
          <a:prstGeom prst="curvedConnector2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3A0A38B0-06E6-4F6E-8582-1A6D1B53CD62}"/>
              </a:ext>
            </a:extLst>
          </p:cNvPr>
          <p:cNvSpPr/>
          <p:nvPr/>
        </p:nvSpPr>
        <p:spPr>
          <a:xfrm>
            <a:off x="5289550" y="5629275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1206A906-9B53-4284-BD10-3AABDE6A4E44}"/>
              </a:ext>
            </a:extLst>
          </p:cNvPr>
          <p:cNvSpPr/>
          <p:nvPr/>
        </p:nvSpPr>
        <p:spPr>
          <a:xfrm>
            <a:off x="3054350" y="56515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067DBE44-EBC0-478D-A965-E74F96682AD2}"/>
              </a:ext>
            </a:extLst>
          </p:cNvPr>
          <p:cNvSpPr/>
          <p:nvPr/>
        </p:nvSpPr>
        <p:spPr>
          <a:xfrm>
            <a:off x="6462713" y="5580063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5EC7F30C-1288-4147-A300-206B319165EE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6462713" y="5197475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48" name="Szögletes összekötő 39939">
            <a:extLst>
              <a:ext uri="{FF2B5EF4-FFF2-40B4-BE49-F238E27FC236}">
                <a16:creationId xmlns:a16="http://schemas.microsoft.com/office/drawing/2014/main" id="{EC7E74C9-83DA-4CF9-A7B7-BD7E8AC0D690}"/>
              </a:ext>
            </a:extLst>
          </p:cNvPr>
          <p:cNvCxnSpPr>
            <a:cxnSpLocks noChangeShapeType="1"/>
            <a:stCxn id="22" idx="3"/>
          </p:cNvCxnSpPr>
          <p:nvPr/>
        </p:nvCxnSpPr>
        <p:spPr bwMode="auto">
          <a:xfrm>
            <a:off x="4948238" y="5734050"/>
            <a:ext cx="347662" cy="122238"/>
          </a:xfrm>
          <a:prstGeom prst="bentConnector3">
            <a:avLst>
              <a:gd name="adj1" fmla="val 49773"/>
            </a:avLst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9" name="AutoShape 21">
            <a:extLst>
              <a:ext uri="{FF2B5EF4-FFF2-40B4-BE49-F238E27FC236}">
                <a16:creationId xmlns:a16="http://schemas.microsoft.com/office/drawing/2014/main" id="{D0AB9488-352D-4B52-8C02-ACBFAB774F20}"/>
              </a:ext>
            </a:extLst>
          </p:cNvPr>
          <p:cNvCxnSpPr>
            <a:cxnSpLocks noChangeShapeType="1"/>
            <a:stCxn id="26" idx="3"/>
            <a:endCxn id="22" idx="1"/>
          </p:cNvCxnSpPr>
          <p:nvPr/>
        </p:nvCxnSpPr>
        <p:spPr bwMode="auto">
          <a:xfrm flipV="1">
            <a:off x="3754438" y="5734050"/>
            <a:ext cx="444500" cy="115888"/>
          </a:xfrm>
          <a:prstGeom prst="bentConnector3">
            <a:avLst>
              <a:gd name="adj1" fmla="val 49644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0" name="AutoShape 22">
            <a:extLst>
              <a:ext uri="{FF2B5EF4-FFF2-40B4-BE49-F238E27FC236}">
                <a16:creationId xmlns:a16="http://schemas.microsoft.com/office/drawing/2014/main" id="{060BD7FD-6E33-4C3D-AAE5-DB3BA34A9905}"/>
              </a:ext>
            </a:extLst>
          </p:cNvPr>
          <p:cNvCxnSpPr>
            <a:cxnSpLocks noChangeShapeType="1"/>
            <a:stCxn id="2" idx="3"/>
            <a:endCxn id="22" idx="1"/>
          </p:cNvCxnSpPr>
          <p:nvPr/>
        </p:nvCxnSpPr>
        <p:spPr bwMode="auto">
          <a:xfrm>
            <a:off x="3941763" y="4860925"/>
            <a:ext cx="257175" cy="87312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zövegdoboz 3">
            <a:extLst>
              <a:ext uri="{FF2B5EF4-FFF2-40B4-BE49-F238E27FC236}">
                <a16:creationId xmlns:a16="http://schemas.microsoft.com/office/drawing/2014/main" id="{B9C410B0-850A-4E44-8A82-CE9B9D156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Kapcsolási problémák - hurok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Szórásos üzenet érkezik a kapcsolóhoz (SW1)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Mindenfelé továbbítja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Az üzenet elér SW2-höz és SW3-hoz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Mindketten továbbítják mindenfelé</a:t>
            </a: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1123A48E-F3BD-4956-8306-5B83094A96D3}"/>
              </a:ext>
            </a:extLst>
          </p:cNvPr>
          <p:cNvSpPr/>
          <p:nvPr/>
        </p:nvSpPr>
        <p:spPr>
          <a:xfrm>
            <a:off x="3192463" y="44973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SW1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8D13D767-8E4D-4464-BD60-F927CE90A87A}"/>
              </a:ext>
            </a:extLst>
          </p:cNvPr>
          <p:cNvSpPr/>
          <p:nvPr/>
        </p:nvSpPr>
        <p:spPr>
          <a:xfrm>
            <a:off x="6289675" y="44719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SW2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5C960C86-7FF0-42EC-AC9E-0D9BB886CD89}"/>
              </a:ext>
            </a:extLst>
          </p:cNvPr>
          <p:cNvSpPr/>
          <p:nvPr/>
        </p:nvSpPr>
        <p:spPr>
          <a:xfrm>
            <a:off x="1628775" y="53721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DB314C3E-D2A2-40F3-A53D-0EB10A913C46}"/>
              </a:ext>
            </a:extLst>
          </p:cNvPr>
          <p:cNvSpPr/>
          <p:nvPr/>
        </p:nvSpPr>
        <p:spPr>
          <a:xfrm>
            <a:off x="1616075" y="466566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C8C66CAB-5914-47A6-856B-725092F7995A}"/>
              </a:ext>
            </a:extLst>
          </p:cNvPr>
          <p:cNvSpPr/>
          <p:nvPr/>
        </p:nvSpPr>
        <p:spPr>
          <a:xfrm>
            <a:off x="7813675" y="51927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4F4C1F29-3863-48B2-9435-65C824F33979}"/>
              </a:ext>
            </a:extLst>
          </p:cNvPr>
          <p:cNvSpPr/>
          <p:nvPr/>
        </p:nvSpPr>
        <p:spPr>
          <a:xfrm>
            <a:off x="7813675" y="447198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latin typeface="Calibri" panose="020F0502020204030204" pitchFamily="34" charset="0"/>
              </a:rPr>
              <a:t>C</a:t>
            </a:r>
          </a:p>
        </p:txBody>
      </p:sp>
      <p:cxnSp>
        <p:nvCxnSpPr>
          <p:cNvPr id="23561" name="Egyenes összekötő nyíllal 9">
            <a:extLst>
              <a:ext uri="{FF2B5EF4-FFF2-40B4-BE49-F238E27FC236}">
                <a16:creationId xmlns:a16="http://schemas.microsoft.com/office/drawing/2014/main" id="{F32BE378-C049-4445-9D68-F968B671B608}"/>
              </a:ext>
            </a:extLst>
          </p:cNvPr>
          <p:cNvCxnSpPr>
            <a:cxnSpLocks noChangeShapeType="1"/>
            <a:stCxn id="7" idx="3"/>
            <a:endCxn id="2" idx="1"/>
          </p:cNvCxnSpPr>
          <p:nvPr/>
        </p:nvCxnSpPr>
        <p:spPr bwMode="auto">
          <a:xfrm flipV="1">
            <a:off x="2316163" y="4860925"/>
            <a:ext cx="876300" cy="3175"/>
          </a:xfrm>
          <a:prstGeom prst="straightConnector1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55B8790E-3D16-44E9-8C54-49C2F5512F9B}"/>
              </a:ext>
            </a:extLst>
          </p:cNvPr>
          <p:cNvCxnSpPr>
            <a:stCxn id="4" idx="3"/>
            <a:endCxn id="2" idx="2"/>
          </p:cNvCxnSpPr>
          <p:nvPr/>
        </p:nvCxnSpPr>
        <p:spPr>
          <a:xfrm flipV="1">
            <a:off x="2328863" y="5222875"/>
            <a:ext cx="1238250" cy="3476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63" name="Egyenes összekötő nyíllal 13">
            <a:extLst>
              <a:ext uri="{FF2B5EF4-FFF2-40B4-BE49-F238E27FC236}">
                <a16:creationId xmlns:a16="http://schemas.microsoft.com/office/drawing/2014/main" id="{DDDD5657-5E8B-4942-9103-DE5C84E5B58D}"/>
              </a:ext>
            </a:extLst>
          </p:cNvPr>
          <p:cNvCxnSpPr>
            <a:cxnSpLocks noChangeShapeType="1"/>
            <a:stCxn id="9" idx="1"/>
          </p:cNvCxnSpPr>
          <p:nvPr/>
        </p:nvCxnSpPr>
        <p:spPr bwMode="auto">
          <a:xfrm flipH="1">
            <a:off x="7038975" y="4670425"/>
            <a:ext cx="774700" cy="17463"/>
          </a:xfrm>
          <a:prstGeom prst="straightConnector1">
            <a:avLst/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4" name="Szögletes összekötő 15">
            <a:extLst>
              <a:ext uri="{FF2B5EF4-FFF2-40B4-BE49-F238E27FC236}">
                <a16:creationId xmlns:a16="http://schemas.microsoft.com/office/drawing/2014/main" id="{7D517B43-1782-4F1E-B9A4-32B81C24602B}"/>
              </a:ext>
            </a:extLst>
          </p:cNvPr>
          <p:cNvCxnSpPr>
            <a:cxnSpLocks noChangeShapeType="1"/>
            <a:stCxn id="8" idx="1"/>
            <a:endCxn id="5" idx="3"/>
          </p:cNvCxnSpPr>
          <p:nvPr/>
        </p:nvCxnSpPr>
        <p:spPr bwMode="auto">
          <a:xfrm rot="10800000">
            <a:off x="7038975" y="4833938"/>
            <a:ext cx="774700" cy="555625"/>
          </a:xfrm>
          <a:prstGeom prst="bentConnector3">
            <a:avLst>
              <a:gd name="adj1" fmla="val 50000"/>
            </a:avLst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5" name="Szögletes összekötő 17">
            <a:extLst>
              <a:ext uri="{FF2B5EF4-FFF2-40B4-BE49-F238E27FC236}">
                <a16:creationId xmlns:a16="http://schemas.microsoft.com/office/drawing/2014/main" id="{CFF99C06-8E4D-4CFB-AC02-D255EB6BB49B}"/>
              </a:ext>
            </a:extLst>
          </p:cNvPr>
          <p:cNvCxnSpPr>
            <a:cxnSpLocks noChangeShapeType="1"/>
            <a:stCxn id="2" idx="3"/>
          </p:cNvCxnSpPr>
          <p:nvPr/>
        </p:nvCxnSpPr>
        <p:spPr bwMode="auto">
          <a:xfrm flipV="1">
            <a:off x="3941763" y="4591050"/>
            <a:ext cx="2355850" cy="269875"/>
          </a:xfrm>
          <a:prstGeom prst="bentConnector3">
            <a:avLst>
              <a:gd name="adj1" fmla="val 50000"/>
            </a:avLst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F8644B73-434C-459F-8D90-4DBD169F5C1A}"/>
              </a:ext>
            </a:extLst>
          </p:cNvPr>
          <p:cNvSpPr/>
          <p:nvPr/>
        </p:nvSpPr>
        <p:spPr>
          <a:xfrm>
            <a:off x="4198938" y="53705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SW3</a:t>
            </a:r>
          </a:p>
        </p:txBody>
      </p:sp>
      <p:cxnSp>
        <p:nvCxnSpPr>
          <p:cNvPr id="23567" name="Görbe összekötő 22">
            <a:extLst>
              <a:ext uri="{FF2B5EF4-FFF2-40B4-BE49-F238E27FC236}">
                <a16:creationId xmlns:a16="http://schemas.microsoft.com/office/drawing/2014/main" id="{C90E812A-4742-4CE7-826B-B56CDF90A97D}"/>
              </a:ext>
            </a:extLst>
          </p:cNvPr>
          <p:cNvCxnSpPr>
            <a:cxnSpLocks noChangeShapeType="1"/>
            <a:stCxn id="22" idx="0"/>
            <a:endCxn id="5" idx="1"/>
          </p:cNvCxnSpPr>
          <p:nvPr/>
        </p:nvCxnSpPr>
        <p:spPr bwMode="auto">
          <a:xfrm rot="-5400000">
            <a:off x="5164138" y="4244975"/>
            <a:ext cx="534988" cy="1716087"/>
          </a:xfrm>
          <a:prstGeom prst="curvedConnector2">
            <a:avLst/>
          </a:prstGeom>
          <a:noFill/>
          <a:ln w="190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B58136B8-F680-4D81-BE5B-3FF222B96411}"/>
              </a:ext>
            </a:extLst>
          </p:cNvPr>
          <p:cNvSpPr/>
          <p:nvPr/>
        </p:nvSpPr>
        <p:spPr>
          <a:xfrm>
            <a:off x="5289550" y="5629275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94EA6E6F-5E95-4A46-ADE4-50920E8885F2}"/>
              </a:ext>
            </a:extLst>
          </p:cNvPr>
          <p:cNvSpPr/>
          <p:nvPr/>
        </p:nvSpPr>
        <p:spPr>
          <a:xfrm>
            <a:off x="3054350" y="56515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0AE772F9-E46F-42E2-85F9-33C857112B02}"/>
              </a:ext>
            </a:extLst>
          </p:cNvPr>
          <p:cNvSpPr/>
          <p:nvPr/>
        </p:nvSpPr>
        <p:spPr>
          <a:xfrm>
            <a:off x="6462713" y="5580063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23571" name="Görbe összekötő 29">
            <a:extLst>
              <a:ext uri="{FF2B5EF4-FFF2-40B4-BE49-F238E27FC236}">
                <a16:creationId xmlns:a16="http://schemas.microsoft.com/office/drawing/2014/main" id="{BE6B29E2-E7F5-49B7-A98E-F4A2740C7D4C}"/>
              </a:ext>
            </a:extLst>
          </p:cNvPr>
          <p:cNvCxnSpPr>
            <a:cxnSpLocks noChangeShapeType="1"/>
            <a:stCxn id="27" idx="1"/>
            <a:endCxn id="5" idx="2"/>
          </p:cNvCxnSpPr>
          <p:nvPr/>
        </p:nvCxnSpPr>
        <p:spPr bwMode="auto">
          <a:xfrm rot="10800000" flipH="1">
            <a:off x="6462713" y="5197475"/>
            <a:ext cx="201612" cy="579438"/>
          </a:xfrm>
          <a:prstGeom prst="curvedConnector4">
            <a:avLst>
              <a:gd name="adj1" fmla="val -113264"/>
              <a:gd name="adj2" fmla="val 67023"/>
            </a:avLst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2" name="Szögletes összekötő 39939">
            <a:extLst>
              <a:ext uri="{FF2B5EF4-FFF2-40B4-BE49-F238E27FC236}">
                <a16:creationId xmlns:a16="http://schemas.microsoft.com/office/drawing/2014/main" id="{2317C3FC-1925-4B51-98F5-05552C879251}"/>
              </a:ext>
            </a:extLst>
          </p:cNvPr>
          <p:cNvCxnSpPr>
            <a:cxnSpLocks noChangeShapeType="1"/>
            <a:stCxn id="22" idx="3"/>
          </p:cNvCxnSpPr>
          <p:nvPr/>
        </p:nvCxnSpPr>
        <p:spPr bwMode="auto">
          <a:xfrm>
            <a:off x="4948238" y="5734050"/>
            <a:ext cx="347662" cy="122238"/>
          </a:xfrm>
          <a:prstGeom prst="bentConnector3">
            <a:avLst>
              <a:gd name="adj1" fmla="val 49773"/>
            </a:avLst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3" name="AutoShape 21">
            <a:extLst>
              <a:ext uri="{FF2B5EF4-FFF2-40B4-BE49-F238E27FC236}">
                <a16:creationId xmlns:a16="http://schemas.microsoft.com/office/drawing/2014/main" id="{B5FE744E-19DC-4558-8D65-2C7CA197C7F0}"/>
              </a:ext>
            </a:extLst>
          </p:cNvPr>
          <p:cNvCxnSpPr>
            <a:cxnSpLocks noChangeShapeType="1"/>
            <a:stCxn id="26" idx="3"/>
            <a:endCxn id="22" idx="1"/>
          </p:cNvCxnSpPr>
          <p:nvPr/>
        </p:nvCxnSpPr>
        <p:spPr bwMode="auto">
          <a:xfrm flipV="1">
            <a:off x="3754438" y="5734050"/>
            <a:ext cx="444500" cy="115888"/>
          </a:xfrm>
          <a:prstGeom prst="bentConnector3">
            <a:avLst>
              <a:gd name="adj1" fmla="val 49644"/>
            </a:avLst>
          </a:prstGeom>
          <a:noFill/>
          <a:ln w="9525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4" name="AutoShape 22">
            <a:extLst>
              <a:ext uri="{FF2B5EF4-FFF2-40B4-BE49-F238E27FC236}">
                <a16:creationId xmlns:a16="http://schemas.microsoft.com/office/drawing/2014/main" id="{3B5E37EA-72B0-4282-951E-DEBF147647C0}"/>
              </a:ext>
            </a:extLst>
          </p:cNvPr>
          <p:cNvCxnSpPr>
            <a:cxnSpLocks noChangeShapeType="1"/>
            <a:stCxn id="2" idx="3"/>
            <a:endCxn id="22" idx="1"/>
          </p:cNvCxnSpPr>
          <p:nvPr/>
        </p:nvCxnSpPr>
        <p:spPr bwMode="auto">
          <a:xfrm>
            <a:off x="3941763" y="4860925"/>
            <a:ext cx="257175" cy="87312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zövegdoboz 3">
            <a:extLst>
              <a:ext uri="{FF2B5EF4-FFF2-40B4-BE49-F238E27FC236}">
                <a16:creationId xmlns:a16="http://schemas.microsoft.com/office/drawing/2014/main" id="{B6EE3732-291B-42BE-9282-CEC0500E4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Kapcsolási problémák - hurok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Szórásos üzenet érkezik a kapcsolóhoz (SW1)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Mindenfelé továbbítja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Az üzenet elér SW2-höz és SW3-hoz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Mindketten továbbítják mindenfelé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Így egymástól is megkapják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Ismét mindketten továbbítják mindenfelé</a:t>
            </a:r>
            <a:endParaRPr lang="hu-HU" altLang="hu-HU" sz="2000">
              <a:latin typeface="Verdana" panose="020B0604030504040204" pitchFamily="34" charset="0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763649DF-C691-4261-B6FC-89E7E01E5BDB}"/>
              </a:ext>
            </a:extLst>
          </p:cNvPr>
          <p:cNvSpPr/>
          <p:nvPr/>
        </p:nvSpPr>
        <p:spPr>
          <a:xfrm>
            <a:off x="3192463" y="44973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SW1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85FC94A8-B591-413E-B76B-51586574B1B2}"/>
              </a:ext>
            </a:extLst>
          </p:cNvPr>
          <p:cNvSpPr/>
          <p:nvPr/>
        </p:nvSpPr>
        <p:spPr>
          <a:xfrm>
            <a:off x="6289675" y="44719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SW2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896F88FA-9175-4CE1-8D62-2CC866E2D11F}"/>
              </a:ext>
            </a:extLst>
          </p:cNvPr>
          <p:cNvSpPr/>
          <p:nvPr/>
        </p:nvSpPr>
        <p:spPr>
          <a:xfrm>
            <a:off x="1628775" y="53721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DA033BFE-7253-427A-8B11-CA2A4157E6B7}"/>
              </a:ext>
            </a:extLst>
          </p:cNvPr>
          <p:cNvSpPr/>
          <p:nvPr/>
        </p:nvSpPr>
        <p:spPr>
          <a:xfrm>
            <a:off x="1616075" y="466566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14C9C01E-B023-409B-A59A-539088BA91AA}"/>
              </a:ext>
            </a:extLst>
          </p:cNvPr>
          <p:cNvSpPr/>
          <p:nvPr/>
        </p:nvSpPr>
        <p:spPr>
          <a:xfrm>
            <a:off x="7813675" y="51927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A7D71A96-DD29-41DF-9EA3-3C31A4A95D7B}"/>
              </a:ext>
            </a:extLst>
          </p:cNvPr>
          <p:cNvSpPr/>
          <p:nvPr/>
        </p:nvSpPr>
        <p:spPr>
          <a:xfrm>
            <a:off x="7813675" y="447198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latin typeface="Calibri" panose="020F0502020204030204" pitchFamily="34" charset="0"/>
              </a:rPr>
              <a:t>C</a:t>
            </a:r>
          </a:p>
        </p:txBody>
      </p:sp>
      <p:cxnSp>
        <p:nvCxnSpPr>
          <p:cNvPr id="24585" name="Egyenes összekötő nyíllal 9">
            <a:extLst>
              <a:ext uri="{FF2B5EF4-FFF2-40B4-BE49-F238E27FC236}">
                <a16:creationId xmlns:a16="http://schemas.microsoft.com/office/drawing/2014/main" id="{A604B854-1BD6-4DC8-8BEB-406FF688B6F7}"/>
              </a:ext>
            </a:extLst>
          </p:cNvPr>
          <p:cNvCxnSpPr>
            <a:cxnSpLocks noChangeShapeType="1"/>
            <a:stCxn id="7" idx="3"/>
            <a:endCxn id="2" idx="1"/>
          </p:cNvCxnSpPr>
          <p:nvPr/>
        </p:nvCxnSpPr>
        <p:spPr bwMode="auto">
          <a:xfrm flipV="1">
            <a:off x="2316163" y="4860925"/>
            <a:ext cx="876300" cy="3175"/>
          </a:xfrm>
          <a:prstGeom prst="straightConnector1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E6FAD85C-7CDC-4461-8800-451C85DACF9C}"/>
              </a:ext>
            </a:extLst>
          </p:cNvPr>
          <p:cNvCxnSpPr>
            <a:stCxn id="4" idx="3"/>
            <a:endCxn id="2" idx="2"/>
          </p:cNvCxnSpPr>
          <p:nvPr/>
        </p:nvCxnSpPr>
        <p:spPr>
          <a:xfrm flipV="1">
            <a:off x="2328863" y="5222875"/>
            <a:ext cx="1238250" cy="3476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87" name="Egyenes összekötő nyíllal 13">
            <a:extLst>
              <a:ext uri="{FF2B5EF4-FFF2-40B4-BE49-F238E27FC236}">
                <a16:creationId xmlns:a16="http://schemas.microsoft.com/office/drawing/2014/main" id="{709BB513-8EEF-4D70-9826-4F2D3873CAB1}"/>
              </a:ext>
            </a:extLst>
          </p:cNvPr>
          <p:cNvCxnSpPr>
            <a:cxnSpLocks noChangeShapeType="1"/>
            <a:stCxn id="9" idx="1"/>
          </p:cNvCxnSpPr>
          <p:nvPr/>
        </p:nvCxnSpPr>
        <p:spPr bwMode="auto">
          <a:xfrm flipH="1">
            <a:off x="7038975" y="4670425"/>
            <a:ext cx="774700" cy="17463"/>
          </a:xfrm>
          <a:prstGeom prst="straightConnector1">
            <a:avLst/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8" name="Szögletes összekötő 15">
            <a:extLst>
              <a:ext uri="{FF2B5EF4-FFF2-40B4-BE49-F238E27FC236}">
                <a16:creationId xmlns:a16="http://schemas.microsoft.com/office/drawing/2014/main" id="{6114A1A8-5E85-4169-B034-B206820F5752}"/>
              </a:ext>
            </a:extLst>
          </p:cNvPr>
          <p:cNvCxnSpPr>
            <a:cxnSpLocks noChangeShapeType="1"/>
            <a:stCxn id="8" idx="1"/>
            <a:endCxn id="5" idx="3"/>
          </p:cNvCxnSpPr>
          <p:nvPr/>
        </p:nvCxnSpPr>
        <p:spPr bwMode="auto">
          <a:xfrm rot="10800000">
            <a:off x="7038975" y="4833938"/>
            <a:ext cx="774700" cy="555625"/>
          </a:xfrm>
          <a:prstGeom prst="bentConnector3">
            <a:avLst>
              <a:gd name="adj1" fmla="val 50000"/>
            </a:avLst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9" name="Szögletes összekötő 17">
            <a:extLst>
              <a:ext uri="{FF2B5EF4-FFF2-40B4-BE49-F238E27FC236}">
                <a16:creationId xmlns:a16="http://schemas.microsoft.com/office/drawing/2014/main" id="{D6304B0E-F7D9-4D7B-BB01-1FB5D5D38028}"/>
              </a:ext>
            </a:extLst>
          </p:cNvPr>
          <p:cNvCxnSpPr>
            <a:cxnSpLocks noChangeShapeType="1"/>
            <a:stCxn id="2" idx="3"/>
          </p:cNvCxnSpPr>
          <p:nvPr/>
        </p:nvCxnSpPr>
        <p:spPr bwMode="auto">
          <a:xfrm flipV="1">
            <a:off x="3941763" y="4591050"/>
            <a:ext cx="2355850" cy="269875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F17ECC33-8924-4C8E-81D7-C07B73475F64}"/>
              </a:ext>
            </a:extLst>
          </p:cNvPr>
          <p:cNvSpPr/>
          <p:nvPr/>
        </p:nvSpPr>
        <p:spPr>
          <a:xfrm>
            <a:off x="4198938" y="53705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SW3</a:t>
            </a:r>
          </a:p>
        </p:txBody>
      </p:sp>
      <p:cxnSp>
        <p:nvCxnSpPr>
          <p:cNvPr id="24591" name="Görbe összekötő 22">
            <a:extLst>
              <a:ext uri="{FF2B5EF4-FFF2-40B4-BE49-F238E27FC236}">
                <a16:creationId xmlns:a16="http://schemas.microsoft.com/office/drawing/2014/main" id="{551379CA-1F37-4E35-A6D6-114DBBB3ABBE}"/>
              </a:ext>
            </a:extLst>
          </p:cNvPr>
          <p:cNvCxnSpPr>
            <a:cxnSpLocks noChangeShapeType="1"/>
            <a:stCxn id="22" idx="0"/>
            <a:endCxn id="5" idx="1"/>
          </p:cNvCxnSpPr>
          <p:nvPr/>
        </p:nvCxnSpPr>
        <p:spPr bwMode="auto">
          <a:xfrm rot="-5400000">
            <a:off x="5164138" y="4244975"/>
            <a:ext cx="534988" cy="1716087"/>
          </a:xfrm>
          <a:prstGeom prst="curvedConnector2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DEEC858E-0590-4205-AE9E-86DE982184E5}"/>
              </a:ext>
            </a:extLst>
          </p:cNvPr>
          <p:cNvSpPr/>
          <p:nvPr/>
        </p:nvSpPr>
        <p:spPr>
          <a:xfrm>
            <a:off x="5289550" y="5629275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B8AD49F0-E5F3-40E4-8C77-5F07C5D9B173}"/>
              </a:ext>
            </a:extLst>
          </p:cNvPr>
          <p:cNvSpPr/>
          <p:nvPr/>
        </p:nvSpPr>
        <p:spPr>
          <a:xfrm>
            <a:off x="3054350" y="56515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0BC3FDAE-48A8-4135-AB3B-93C62CCFCEFE}"/>
              </a:ext>
            </a:extLst>
          </p:cNvPr>
          <p:cNvSpPr/>
          <p:nvPr/>
        </p:nvSpPr>
        <p:spPr>
          <a:xfrm>
            <a:off x="6462713" y="5580063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24595" name="Görbe összekötő 29">
            <a:extLst>
              <a:ext uri="{FF2B5EF4-FFF2-40B4-BE49-F238E27FC236}">
                <a16:creationId xmlns:a16="http://schemas.microsoft.com/office/drawing/2014/main" id="{B690B221-DCC1-40A3-A57E-D97D0C920A29}"/>
              </a:ext>
            </a:extLst>
          </p:cNvPr>
          <p:cNvCxnSpPr>
            <a:cxnSpLocks noChangeShapeType="1"/>
            <a:stCxn id="27" idx="1"/>
            <a:endCxn id="5" idx="2"/>
          </p:cNvCxnSpPr>
          <p:nvPr/>
        </p:nvCxnSpPr>
        <p:spPr bwMode="auto">
          <a:xfrm rot="10800000" flipH="1">
            <a:off x="6462713" y="5197475"/>
            <a:ext cx="201612" cy="579438"/>
          </a:xfrm>
          <a:prstGeom prst="curvedConnector4">
            <a:avLst>
              <a:gd name="adj1" fmla="val -113264"/>
              <a:gd name="adj2" fmla="val 67023"/>
            </a:avLst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6" name="Szögletes összekötő 39939">
            <a:extLst>
              <a:ext uri="{FF2B5EF4-FFF2-40B4-BE49-F238E27FC236}">
                <a16:creationId xmlns:a16="http://schemas.microsoft.com/office/drawing/2014/main" id="{B1D48591-E486-4C91-90B9-90A8402558F6}"/>
              </a:ext>
            </a:extLst>
          </p:cNvPr>
          <p:cNvCxnSpPr>
            <a:cxnSpLocks noChangeShapeType="1"/>
            <a:stCxn id="22" idx="3"/>
          </p:cNvCxnSpPr>
          <p:nvPr/>
        </p:nvCxnSpPr>
        <p:spPr bwMode="auto">
          <a:xfrm>
            <a:off x="4948238" y="5734050"/>
            <a:ext cx="347662" cy="122238"/>
          </a:xfrm>
          <a:prstGeom prst="bentConnector3">
            <a:avLst>
              <a:gd name="adj1" fmla="val 49773"/>
            </a:avLst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7" name="AutoShape 21">
            <a:extLst>
              <a:ext uri="{FF2B5EF4-FFF2-40B4-BE49-F238E27FC236}">
                <a16:creationId xmlns:a16="http://schemas.microsoft.com/office/drawing/2014/main" id="{56F388F2-CC4F-42FE-94F6-7A97E316E0A4}"/>
              </a:ext>
            </a:extLst>
          </p:cNvPr>
          <p:cNvCxnSpPr>
            <a:cxnSpLocks noChangeShapeType="1"/>
            <a:stCxn id="26" idx="3"/>
            <a:endCxn id="22" idx="1"/>
          </p:cNvCxnSpPr>
          <p:nvPr/>
        </p:nvCxnSpPr>
        <p:spPr bwMode="auto">
          <a:xfrm flipV="1">
            <a:off x="3754438" y="5734050"/>
            <a:ext cx="444500" cy="115888"/>
          </a:xfrm>
          <a:prstGeom prst="bentConnector3">
            <a:avLst>
              <a:gd name="adj1" fmla="val 49644"/>
            </a:avLst>
          </a:prstGeom>
          <a:noFill/>
          <a:ln w="9525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598" name="AutoShape 22">
            <a:extLst>
              <a:ext uri="{FF2B5EF4-FFF2-40B4-BE49-F238E27FC236}">
                <a16:creationId xmlns:a16="http://schemas.microsoft.com/office/drawing/2014/main" id="{C7881B23-7303-454F-8071-0013F5EC04CF}"/>
              </a:ext>
            </a:extLst>
          </p:cNvPr>
          <p:cNvCxnSpPr>
            <a:cxnSpLocks noChangeShapeType="1"/>
            <a:stCxn id="2" idx="3"/>
            <a:endCxn id="22" idx="1"/>
          </p:cNvCxnSpPr>
          <p:nvPr/>
        </p:nvCxnSpPr>
        <p:spPr bwMode="auto">
          <a:xfrm>
            <a:off x="3941763" y="4860925"/>
            <a:ext cx="257175" cy="87312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zövegdoboz 3">
            <a:extLst>
              <a:ext uri="{FF2B5EF4-FFF2-40B4-BE49-F238E27FC236}">
                <a16:creationId xmlns:a16="http://schemas.microsoft.com/office/drawing/2014/main" id="{A5AF7CD6-6C28-4789-A5CA-2B3BDE3DE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331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Kapcsolási problémák - hurok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Szórásos üzenet érkezik a kapcsolóhoz (SW1)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Mindenfelé továbbítja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Az üzenet elér SW2-höz és SW3-hoz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Mindketten továbbítják mindenfelé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Így egymástól is megkapják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Ismét mindketten továbbítják mindenfelé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Az üzenetet megkapja SW1 újabb 2 példányban</a:t>
            </a:r>
            <a:endParaRPr lang="hu-HU" altLang="hu-HU" sz="1600">
              <a:latin typeface="Verdana" panose="020B0604030504040204" pitchFamily="34" charset="0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D7A09E83-9DDF-47F2-9736-C38DC9E22150}"/>
              </a:ext>
            </a:extLst>
          </p:cNvPr>
          <p:cNvSpPr/>
          <p:nvPr/>
        </p:nvSpPr>
        <p:spPr>
          <a:xfrm>
            <a:off x="3192463" y="44973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SW1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FEA9D490-F84E-441D-A014-71517943BAA3}"/>
              </a:ext>
            </a:extLst>
          </p:cNvPr>
          <p:cNvSpPr/>
          <p:nvPr/>
        </p:nvSpPr>
        <p:spPr>
          <a:xfrm>
            <a:off x="6289675" y="44719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SW2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4E97F22C-4BF8-456A-A4EE-76ED1B5C9F7A}"/>
              </a:ext>
            </a:extLst>
          </p:cNvPr>
          <p:cNvSpPr/>
          <p:nvPr/>
        </p:nvSpPr>
        <p:spPr>
          <a:xfrm>
            <a:off x="1628775" y="53721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20D6EBF6-DBE3-406F-A2F0-E56D7392523C}"/>
              </a:ext>
            </a:extLst>
          </p:cNvPr>
          <p:cNvSpPr/>
          <p:nvPr/>
        </p:nvSpPr>
        <p:spPr>
          <a:xfrm>
            <a:off x="1616075" y="466566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2814D067-F097-4AB4-9B3B-0C4BAECAA84B}"/>
              </a:ext>
            </a:extLst>
          </p:cNvPr>
          <p:cNvSpPr/>
          <p:nvPr/>
        </p:nvSpPr>
        <p:spPr>
          <a:xfrm>
            <a:off x="7813675" y="51927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53E2466D-A342-49BD-AC0D-FF993B418EC3}"/>
              </a:ext>
            </a:extLst>
          </p:cNvPr>
          <p:cNvSpPr/>
          <p:nvPr/>
        </p:nvSpPr>
        <p:spPr>
          <a:xfrm>
            <a:off x="7813675" y="447198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25609" name="Egyenes összekötő nyíllal 9">
            <a:extLst>
              <a:ext uri="{FF2B5EF4-FFF2-40B4-BE49-F238E27FC236}">
                <a16:creationId xmlns:a16="http://schemas.microsoft.com/office/drawing/2014/main" id="{1584A8E2-B0EB-4F01-BB5F-076323EBFC6F}"/>
              </a:ext>
            </a:extLst>
          </p:cNvPr>
          <p:cNvCxnSpPr>
            <a:cxnSpLocks noChangeShapeType="1"/>
            <a:stCxn id="7" idx="3"/>
            <a:endCxn id="2" idx="1"/>
          </p:cNvCxnSpPr>
          <p:nvPr/>
        </p:nvCxnSpPr>
        <p:spPr bwMode="auto">
          <a:xfrm flipV="1">
            <a:off x="2316163" y="4860925"/>
            <a:ext cx="876300" cy="3175"/>
          </a:xfrm>
          <a:prstGeom prst="straightConnector1">
            <a:avLst/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0" name="Egyenes összekötő nyíllal 11">
            <a:extLst>
              <a:ext uri="{FF2B5EF4-FFF2-40B4-BE49-F238E27FC236}">
                <a16:creationId xmlns:a16="http://schemas.microsoft.com/office/drawing/2014/main" id="{A9F41276-1F28-452B-87EF-87909275B6C7}"/>
              </a:ext>
            </a:extLst>
          </p:cNvPr>
          <p:cNvCxnSpPr>
            <a:cxnSpLocks noChangeShapeType="1"/>
            <a:stCxn id="4" idx="3"/>
            <a:endCxn id="2" idx="2"/>
          </p:cNvCxnSpPr>
          <p:nvPr/>
        </p:nvCxnSpPr>
        <p:spPr bwMode="auto">
          <a:xfrm flipV="1">
            <a:off x="2328863" y="5222875"/>
            <a:ext cx="1238250" cy="347663"/>
          </a:xfrm>
          <a:prstGeom prst="straightConnector1">
            <a:avLst/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77FADA47-BF95-48B7-9179-241B96D3077D}"/>
              </a:ext>
            </a:extLst>
          </p:cNvPr>
          <p:cNvCxnSpPr>
            <a:stCxn id="9" idx="1"/>
          </p:cNvCxnSpPr>
          <p:nvPr/>
        </p:nvCxnSpPr>
        <p:spPr>
          <a:xfrm flipH="1">
            <a:off x="7038975" y="4670425"/>
            <a:ext cx="774700" cy="174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CF098ACF-A0FF-41E5-81FD-A015CE56F560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7038975" y="4833938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13" name="Szögletes összekötő 17">
            <a:extLst>
              <a:ext uri="{FF2B5EF4-FFF2-40B4-BE49-F238E27FC236}">
                <a16:creationId xmlns:a16="http://schemas.microsoft.com/office/drawing/2014/main" id="{843BD763-62B8-46B2-B0B9-55DB98BD6B2A}"/>
              </a:ext>
            </a:extLst>
          </p:cNvPr>
          <p:cNvCxnSpPr>
            <a:cxnSpLocks noChangeShapeType="1"/>
            <a:stCxn id="2" idx="3"/>
          </p:cNvCxnSpPr>
          <p:nvPr/>
        </p:nvCxnSpPr>
        <p:spPr bwMode="auto">
          <a:xfrm flipV="1">
            <a:off x="3941763" y="4591050"/>
            <a:ext cx="2355850" cy="269875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318B1683-0269-4760-BA2A-046D9B96AFE5}"/>
              </a:ext>
            </a:extLst>
          </p:cNvPr>
          <p:cNvSpPr/>
          <p:nvPr/>
        </p:nvSpPr>
        <p:spPr>
          <a:xfrm>
            <a:off x="4198938" y="53705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SW3</a:t>
            </a:r>
          </a:p>
        </p:txBody>
      </p:sp>
      <p:cxnSp>
        <p:nvCxnSpPr>
          <p:cNvPr id="25615" name="Görbe összekötő 22">
            <a:extLst>
              <a:ext uri="{FF2B5EF4-FFF2-40B4-BE49-F238E27FC236}">
                <a16:creationId xmlns:a16="http://schemas.microsoft.com/office/drawing/2014/main" id="{7D1CFDAB-807D-4485-878E-901DF20A4DEF}"/>
              </a:ext>
            </a:extLst>
          </p:cNvPr>
          <p:cNvCxnSpPr>
            <a:cxnSpLocks noChangeShapeType="1"/>
            <a:stCxn id="22" idx="0"/>
            <a:endCxn id="5" idx="1"/>
          </p:cNvCxnSpPr>
          <p:nvPr/>
        </p:nvCxnSpPr>
        <p:spPr bwMode="auto">
          <a:xfrm rot="-5400000">
            <a:off x="5164138" y="4244975"/>
            <a:ext cx="534988" cy="1716087"/>
          </a:xfrm>
          <a:prstGeom prst="curvedConnector2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6974FFD1-B5BD-4A2D-82C6-46FDB5F350C0}"/>
              </a:ext>
            </a:extLst>
          </p:cNvPr>
          <p:cNvSpPr/>
          <p:nvPr/>
        </p:nvSpPr>
        <p:spPr>
          <a:xfrm>
            <a:off x="5289550" y="5629275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BD6DEC54-BC85-486E-B27A-2DA8A89AEB90}"/>
              </a:ext>
            </a:extLst>
          </p:cNvPr>
          <p:cNvSpPr/>
          <p:nvPr/>
        </p:nvSpPr>
        <p:spPr>
          <a:xfrm>
            <a:off x="3054350" y="56515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ED72DBF7-04F0-4E9D-9451-C7FBDF6DC64A}"/>
              </a:ext>
            </a:extLst>
          </p:cNvPr>
          <p:cNvSpPr/>
          <p:nvPr/>
        </p:nvSpPr>
        <p:spPr>
          <a:xfrm>
            <a:off x="6462713" y="5580063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071D706E-0296-4E32-AE72-5A517D4DF1CF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6462713" y="5197475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20" name="Szögletes összekötő 39939">
            <a:extLst>
              <a:ext uri="{FF2B5EF4-FFF2-40B4-BE49-F238E27FC236}">
                <a16:creationId xmlns:a16="http://schemas.microsoft.com/office/drawing/2014/main" id="{C7C24134-F069-45B2-95CF-B364AAF340D7}"/>
              </a:ext>
            </a:extLst>
          </p:cNvPr>
          <p:cNvCxnSpPr>
            <a:cxnSpLocks noChangeShapeType="1"/>
            <a:stCxn id="22" idx="3"/>
          </p:cNvCxnSpPr>
          <p:nvPr/>
        </p:nvCxnSpPr>
        <p:spPr bwMode="auto">
          <a:xfrm>
            <a:off x="4948238" y="5734050"/>
            <a:ext cx="347662" cy="122238"/>
          </a:xfrm>
          <a:prstGeom prst="bentConnector3">
            <a:avLst>
              <a:gd name="adj1" fmla="val 49773"/>
            </a:avLst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1" name="AutoShape 21">
            <a:extLst>
              <a:ext uri="{FF2B5EF4-FFF2-40B4-BE49-F238E27FC236}">
                <a16:creationId xmlns:a16="http://schemas.microsoft.com/office/drawing/2014/main" id="{F0E9B05F-902D-4DED-BA95-F7CA87B209DA}"/>
              </a:ext>
            </a:extLst>
          </p:cNvPr>
          <p:cNvCxnSpPr>
            <a:cxnSpLocks noChangeShapeType="1"/>
            <a:stCxn id="26" idx="3"/>
            <a:endCxn id="22" idx="1"/>
          </p:cNvCxnSpPr>
          <p:nvPr/>
        </p:nvCxnSpPr>
        <p:spPr bwMode="auto">
          <a:xfrm flipV="1">
            <a:off x="3754438" y="5734050"/>
            <a:ext cx="444500" cy="115888"/>
          </a:xfrm>
          <a:prstGeom prst="bentConnector3">
            <a:avLst>
              <a:gd name="adj1" fmla="val 49644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22" name="AutoShape 22">
            <a:extLst>
              <a:ext uri="{FF2B5EF4-FFF2-40B4-BE49-F238E27FC236}">
                <a16:creationId xmlns:a16="http://schemas.microsoft.com/office/drawing/2014/main" id="{374F1A0D-E356-44C1-A368-7AA9096E4A2E}"/>
              </a:ext>
            </a:extLst>
          </p:cNvPr>
          <p:cNvCxnSpPr>
            <a:cxnSpLocks noChangeShapeType="1"/>
            <a:stCxn id="2" idx="3"/>
            <a:endCxn id="22" idx="1"/>
          </p:cNvCxnSpPr>
          <p:nvPr/>
        </p:nvCxnSpPr>
        <p:spPr bwMode="auto">
          <a:xfrm>
            <a:off x="3941763" y="4860925"/>
            <a:ext cx="257175" cy="87312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zövegdoboz 3">
            <a:extLst>
              <a:ext uri="{FF2B5EF4-FFF2-40B4-BE49-F238E27FC236}">
                <a16:creationId xmlns:a16="http://schemas.microsoft.com/office/drawing/2014/main" id="{39D62166-E51D-4B00-9532-AAD7BBE72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Kapcsolási problémák - hurok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Szórásos üzenet érkezik a kapcsolóhoz (SW1)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Mindenfelé továbbítja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Az üzenet elér SW2-höz és SW3-hoz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Mindketten továbbítják mindenfelé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Így egymástól is megkapják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Ismét mindketten továbbítják mindenfelé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Az üzenetet megkapja SW1 újabb 2 példányban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Megint továbbítja…</a:t>
            </a:r>
            <a:endParaRPr lang="hu-HU" altLang="hu-HU" sz="1600">
              <a:latin typeface="Verdana" panose="020B0604030504040204" pitchFamily="34" charset="0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9D09097F-BFEA-43E1-9566-07EB7B6BB8CD}"/>
              </a:ext>
            </a:extLst>
          </p:cNvPr>
          <p:cNvSpPr/>
          <p:nvPr/>
        </p:nvSpPr>
        <p:spPr>
          <a:xfrm>
            <a:off x="3192463" y="44973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SW1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E709EBC-C649-4232-A5F4-B15020508AF3}"/>
              </a:ext>
            </a:extLst>
          </p:cNvPr>
          <p:cNvSpPr/>
          <p:nvPr/>
        </p:nvSpPr>
        <p:spPr>
          <a:xfrm>
            <a:off x="6289675" y="44719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SW2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80018EF3-A5EB-4B02-8CFA-C196A87A45C1}"/>
              </a:ext>
            </a:extLst>
          </p:cNvPr>
          <p:cNvSpPr/>
          <p:nvPr/>
        </p:nvSpPr>
        <p:spPr>
          <a:xfrm>
            <a:off x="1628775" y="53721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3D64A209-17DE-4576-A1E7-762EC0A98BD4}"/>
              </a:ext>
            </a:extLst>
          </p:cNvPr>
          <p:cNvSpPr/>
          <p:nvPr/>
        </p:nvSpPr>
        <p:spPr>
          <a:xfrm>
            <a:off x="1616075" y="466566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CC0446E6-B904-424F-AFEB-A8435F9AB9A8}"/>
              </a:ext>
            </a:extLst>
          </p:cNvPr>
          <p:cNvSpPr/>
          <p:nvPr/>
        </p:nvSpPr>
        <p:spPr>
          <a:xfrm>
            <a:off x="7813675" y="51927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1C1C1977-5ADB-4666-920C-528F24720EDA}"/>
              </a:ext>
            </a:extLst>
          </p:cNvPr>
          <p:cNvSpPr/>
          <p:nvPr/>
        </p:nvSpPr>
        <p:spPr>
          <a:xfrm>
            <a:off x="7813675" y="447198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latin typeface="Calibri" panose="020F0502020204030204" pitchFamily="34" charset="0"/>
              </a:rPr>
              <a:t>C</a:t>
            </a:r>
          </a:p>
        </p:txBody>
      </p:sp>
      <p:cxnSp>
        <p:nvCxnSpPr>
          <p:cNvPr id="26633" name="Egyenes összekötő nyíllal 9">
            <a:extLst>
              <a:ext uri="{FF2B5EF4-FFF2-40B4-BE49-F238E27FC236}">
                <a16:creationId xmlns:a16="http://schemas.microsoft.com/office/drawing/2014/main" id="{F02FD459-666D-4008-8445-4EEEE260C4C0}"/>
              </a:ext>
            </a:extLst>
          </p:cNvPr>
          <p:cNvCxnSpPr>
            <a:cxnSpLocks noChangeShapeType="1"/>
            <a:stCxn id="7" idx="3"/>
            <a:endCxn id="2" idx="1"/>
          </p:cNvCxnSpPr>
          <p:nvPr/>
        </p:nvCxnSpPr>
        <p:spPr bwMode="auto">
          <a:xfrm flipV="1">
            <a:off x="2316163" y="4860925"/>
            <a:ext cx="876300" cy="3175"/>
          </a:xfrm>
          <a:prstGeom prst="straightConnector1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AE7C3EF4-4BEE-4C29-9EC9-FC6B25914CE0}"/>
              </a:ext>
            </a:extLst>
          </p:cNvPr>
          <p:cNvCxnSpPr>
            <a:stCxn id="4" idx="3"/>
            <a:endCxn id="2" idx="2"/>
          </p:cNvCxnSpPr>
          <p:nvPr/>
        </p:nvCxnSpPr>
        <p:spPr>
          <a:xfrm flipV="1">
            <a:off x="2328863" y="5222875"/>
            <a:ext cx="1238250" cy="3476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35" name="Egyenes összekötő nyíllal 13">
            <a:extLst>
              <a:ext uri="{FF2B5EF4-FFF2-40B4-BE49-F238E27FC236}">
                <a16:creationId xmlns:a16="http://schemas.microsoft.com/office/drawing/2014/main" id="{13E78179-0D6D-4DBB-A702-D1B0431C5572}"/>
              </a:ext>
            </a:extLst>
          </p:cNvPr>
          <p:cNvCxnSpPr>
            <a:cxnSpLocks noChangeShapeType="1"/>
            <a:stCxn id="9" idx="1"/>
          </p:cNvCxnSpPr>
          <p:nvPr/>
        </p:nvCxnSpPr>
        <p:spPr bwMode="auto">
          <a:xfrm flipH="1">
            <a:off x="7038975" y="4670425"/>
            <a:ext cx="774700" cy="17463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BB9818C5-A5D8-4DC8-ABFD-86FCAD8423C5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7038975" y="4833938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37" name="Szögletes összekötő 17">
            <a:extLst>
              <a:ext uri="{FF2B5EF4-FFF2-40B4-BE49-F238E27FC236}">
                <a16:creationId xmlns:a16="http://schemas.microsoft.com/office/drawing/2014/main" id="{74E0C7DA-47A5-4AA7-8D3A-1A5F4BB99C2A}"/>
              </a:ext>
            </a:extLst>
          </p:cNvPr>
          <p:cNvCxnSpPr>
            <a:cxnSpLocks noChangeShapeType="1"/>
            <a:stCxn id="2" idx="3"/>
          </p:cNvCxnSpPr>
          <p:nvPr/>
        </p:nvCxnSpPr>
        <p:spPr bwMode="auto">
          <a:xfrm flipV="1">
            <a:off x="3941763" y="4591050"/>
            <a:ext cx="2355850" cy="269875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EA016B17-102C-4C31-B29A-2BC08AFDB959}"/>
              </a:ext>
            </a:extLst>
          </p:cNvPr>
          <p:cNvSpPr/>
          <p:nvPr/>
        </p:nvSpPr>
        <p:spPr>
          <a:xfrm>
            <a:off x="4198938" y="53705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SW3</a:t>
            </a:r>
          </a:p>
        </p:txBody>
      </p:sp>
      <p:cxnSp>
        <p:nvCxnSpPr>
          <p:cNvPr id="26639" name="Görbe összekötő 22">
            <a:extLst>
              <a:ext uri="{FF2B5EF4-FFF2-40B4-BE49-F238E27FC236}">
                <a16:creationId xmlns:a16="http://schemas.microsoft.com/office/drawing/2014/main" id="{C3C81F72-0976-484C-B397-872D0C49DB22}"/>
              </a:ext>
            </a:extLst>
          </p:cNvPr>
          <p:cNvCxnSpPr>
            <a:cxnSpLocks noChangeShapeType="1"/>
            <a:stCxn id="22" idx="0"/>
            <a:endCxn id="5" idx="1"/>
          </p:cNvCxnSpPr>
          <p:nvPr/>
        </p:nvCxnSpPr>
        <p:spPr bwMode="auto">
          <a:xfrm rot="-5400000">
            <a:off x="5164138" y="4244975"/>
            <a:ext cx="534988" cy="1716087"/>
          </a:xfrm>
          <a:prstGeom prst="curvedConnector2">
            <a:avLst/>
          </a:prstGeom>
          <a:noFill/>
          <a:ln w="2540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8915492C-0350-4F2B-AC5C-17FB9661D11C}"/>
              </a:ext>
            </a:extLst>
          </p:cNvPr>
          <p:cNvSpPr/>
          <p:nvPr/>
        </p:nvSpPr>
        <p:spPr>
          <a:xfrm>
            <a:off x="5289550" y="5629275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032A8518-FF3E-4B9B-8DC9-0023A4FFF670}"/>
              </a:ext>
            </a:extLst>
          </p:cNvPr>
          <p:cNvSpPr/>
          <p:nvPr/>
        </p:nvSpPr>
        <p:spPr>
          <a:xfrm>
            <a:off x="3054350" y="56515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56AC943A-2C83-4DED-945F-668C05DB7657}"/>
              </a:ext>
            </a:extLst>
          </p:cNvPr>
          <p:cNvSpPr/>
          <p:nvPr/>
        </p:nvSpPr>
        <p:spPr>
          <a:xfrm>
            <a:off x="6462713" y="5580063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D1B3A7E8-682B-4905-912B-FC072E67B0B7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6462713" y="5197475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44" name="Szögletes összekötő 39939">
            <a:extLst>
              <a:ext uri="{FF2B5EF4-FFF2-40B4-BE49-F238E27FC236}">
                <a16:creationId xmlns:a16="http://schemas.microsoft.com/office/drawing/2014/main" id="{6A9423A2-761A-40FF-AAAA-AE58061127D9}"/>
              </a:ext>
            </a:extLst>
          </p:cNvPr>
          <p:cNvCxnSpPr>
            <a:cxnSpLocks noChangeShapeType="1"/>
            <a:stCxn id="22" idx="3"/>
          </p:cNvCxnSpPr>
          <p:nvPr/>
        </p:nvCxnSpPr>
        <p:spPr bwMode="auto">
          <a:xfrm>
            <a:off x="4948238" y="5734050"/>
            <a:ext cx="347662" cy="122238"/>
          </a:xfrm>
          <a:prstGeom prst="bentConnector3">
            <a:avLst>
              <a:gd name="adj1" fmla="val 49773"/>
            </a:avLst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5" name="AutoShape 21">
            <a:extLst>
              <a:ext uri="{FF2B5EF4-FFF2-40B4-BE49-F238E27FC236}">
                <a16:creationId xmlns:a16="http://schemas.microsoft.com/office/drawing/2014/main" id="{E3F3205D-D8C1-4A54-93CD-768E6881EE0F}"/>
              </a:ext>
            </a:extLst>
          </p:cNvPr>
          <p:cNvCxnSpPr>
            <a:cxnSpLocks noChangeShapeType="1"/>
            <a:stCxn id="26" idx="3"/>
            <a:endCxn id="22" idx="1"/>
          </p:cNvCxnSpPr>
          <p:nvPr/>
        </p:nvCxnSpPr>
        <p:spPr bwMode="auto">
          <a:xfrm flipV="1">
            <a:off x="3754438" y="5734050"/>
            <a:ext cx="444500" cy="115888"/>
          </a:xfrm>
          <a:prstGeom prst="bentConnector3">
            <a:avLst>
              <a:gd name="adj1" fmla="val 49644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646" name="AutoShape 22">
            <a:extLst>
              <a:ext uri="{FF2B5EF4-FFF2-40B4-BE49-F238E27FC236}">
                <a16:creationId xmlns:a16="http://schemas.microsoft.com/office/drawing/2014/main" id="{7F0856A7-C1F3-4FE8-B6A1-115E85A6EB34}"/>
              </a:ext>
            </a:extLst>
          </p:cNvPr>
          <p:cNvCxnSpPr>
            <a:cxnSpLocks noChangeShapeType="1"/>
            <a:stCxn id="2" idx="3"/>
            <a:endCxn id="22" idx="1"/>
          </p:cNvCxnSpPr>
          <p:nvPr/>
        </p:nvCxnSpPr>
        <p:spPr bwMode="auto">
          <a:xfrm>
            <a:off x="3941763" y="4860925"/>
            <a:ext cx="257175" cy="873125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zövegdoboz 3">
            <a:extLst>
              <a:ext uri="{FF2B5EF4-FFF2-40B4-BE49-F238E27FC236}">
                <a16:creationId xmlns:a16="http://schemas.microsoft.com/office/drawing/2014/main" id="{130B4A09-A735-4CE6-9D91-FE07D8B96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417300" cy="618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Közegek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Fizikai közegfajták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Elektromos kábel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Optikai kábel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Elektromágneses hullám</a:t>
            </a:r>
            <a:r>
              <a:rPr lang="hu-HU" altLang="hu-HU" sz="4000" dirty="0">
                <a:latin typeface="Verdana" panose="020B0604030504040204" pitchFamily="34" charset="0"/>
              </a:rPr>
              <a:t> </a:t>
            </a:r>
            <a:r>
              <a:rPr lang="hu-HU" altLang="hu-HU" sz="3600" dirty="0">
                <a:latin typeface="Verdana" panose="020B0604030504040204" pitchFamily="34" charset="0"/>
              </a:rPr>
              <a:t>(rádió, fény)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Protokollok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Ethernet és WAN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WiFi és </a:t>
            </a:r>
            <a:r>
              <a:rPr lang="hu-HU" altLang="hu-HU" sz="4400" dirty="0" err="1">
                <a:latin typeface="Verdana" panose="020B0604030504040204" pitchFamily="34" charset="0"/>
              </a:rPr>
              <a:t>BlueTooth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 err="1">
                <a:latin typeface="Verdana" panose="020B0604030504040204" pitchFamily="34" charset="0"/>
              </a:rPr>
              <a:t>IrDA</a:t>
            </a:r>
            <a:r>
              <a:rPr lang="hu-HU" altLang="hu-HU" sz="4400" dirty="0">
                <a:latin typeface="Verdana" panose="020B0604030504040204" pitchFamily="34" charset="0"/>
              </a:rPr>
              <a:t> és „futottak még”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9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9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98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98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9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9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98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98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9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9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zövegdoboz 3">
            <a:extLst>
              <a:ext uri="{FF2B5EF4-FFF2-40B4-BE49-F238E27FC236}">
                <a16:creationId xmlns:a16="http://schemas.microsoft.com/office/drawing/2014/main" id="{78D0FF7E-8828-4A03-98AE-6896C7D88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CSILLAPÍTÁS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A jel energiáját elnyeli a közeg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hu-HU" altLang="hu-HU" sz="44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ZAJ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Zajforrások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Távoli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Közeli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Párhuzamos (áthallás)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Jel/Zaj viszony</a:t>
            </a:r>
          </a:p>
        </p:txBody>
      </p:sp>
    </p:spTree>
    <p:extLst>
      <p:ext uri="{BB962C8B-B14F-4D97-AF65-F5344CB8AC3E}">
        <p14:creationId xmlns:p14="http://schemas.microsoft.com/office/powerpoint/2010/main" val="138479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70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70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zövegdoboz 3">
            <a:extLst>
              <a:ext uri="{FF2B5EF4-FFF2-40B4-BE49-F238E27FC236}">
                <a16:creationId xmlns:a16="http://schemas.microsoft.com/office/drawing/2014/main" id="{78D0FF7E-8828-4A03-98AE-6896C7D88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617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Zajvédelem</a:t>
            </a:r>
            <a:r>
              <a:rPr lang="hu-HU" altLang="hu-HU" sz="4000" dirty="0">
                <a:latin typeface="Verdana" panose="020B0604030504040204" pitchFamily="34" charset="0"/>
              </a:rPr>
              <a:t> (</a:t>
            </a:r>
            <a:r>
              <a:rPr lang="hu-HU" altLang="hu-HU" sz="4400" dirty="0">
                <a:latin typeface="Verdana" panose="020B0604030504040204" pitchFamily="34" charset="0"/>
              </a:rPr>
              <a:t>Elektromos kábel)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Verdana" panose="020B0604030504040204" pitchFamily="34" charset="0"/>
              </a:rPr>
              <a:t>Szimpla ér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Verdana" panose="020B0604030504040204" pitchFamily="34" charset="0"/>
              </a:rPr>
              <a:t>Érpár </a:t>
            </a:r>
            <a:r>
              <a:rPr lang="hu-HU" altLang="hu-HU" sz="3600" dirty="0">
                <a:latin typeface="Verdana" panose="020B0604030504040204" pitchFamily="34" charset="0"/>
              </a:rPr>
              <a:t>(távoli zaj ellen)</a:t>
            </a:r>
            <a:endParaRPr lang="hu-HU" altLang="hu-HU" sz="48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Verdana" panose="020B0604030504040204" pitchFamily="34" charset="0"/>
              </a:rPr>
              <a:t>Árnyékolás </a:t>
            </a:r>
            <a:r>
              <a:rPr lang="hu-HU" altLang="hu-HU" sz="3600" dirty="0">
                <a:latin typeface="Verdana" panose="020B0604030504040204" pitchFamily="34" charset="0"/>
              </a:rPr>
              <a:t>(távoli és közeli zaj ellen)</a:t>
            </a:r>
            <a:endParaRPr lang="hu-HU" altLang="hu-HU" sz="48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 err="1">
                <a:solidFill>
                  <a:srgbClr val="006600"/>
                </a:solidFill>
                <a:latin typeface="Verdana" panose="020B0604030504040204" pitchFamily="34" charset="0"/>
              </a:rPr>
              <a:t>Koax</a:t>
            </a:r>
            <a:r>
              <a:rPr lang="hu-HU" altLang="hu-HU" sz="4800" dirty="0">
                <a:solidFill>
                  <a:srgbClr val="006600"/>
                </a:solidFill>
                <a:latin typeface="Verdana" panose="020B0604030504040204" pitchFamily="34" charset="0"/>
              </a:rPr>
              <a:t> </a:t>
            </a:r>
            <a:r>
              <a:rPr lang="hu-HU" altLang="hu-HU" sz="3600" dirty="0">
                <a:latin typeface="Verdana" panose="020B0604030504040204" pitchFamily="34" charset="0"/>
              </a:rPr>
              <a:t>(távoli és közeli zaj ellen)</a:t>
            </a:r>
            <a:endParaRPr lang="hu-HU" altLang="hu-HU" sz="3600" dirty="0">
              <a:solidFill>
                <a:srgbClr val="006600"/>
              </a:solidFill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solidFill>
                  <a:srgbClr val="006600"/>
                </a:solidFill>
                <a:latin typeface="Verdana" panose="020B0604030504040204" pitchFamily="34" charset="0"/>
              </a:rPr>
              <a:t>Csavart érpár</a:t>
            </a:r>
            <a:r>
              <a:rPr lang="hu-HU" altLang="hu-HU" sz="4800" dirty="0">
                <a:latin typeface="Verdana" panose="020B0604030504040204" pitchFamily="34" charset="0"/>
              </a:rPr>
              <a:t> </a:t>
            </a:r>
            <a:r>
              <a:rPr lang="hu-HU" altLang="hu-HU" sz="3600" dirty="0">
                <a:latin typeface="Verdana" panose="020B0604030504040204" pitchFamily="34" charset="0"/>
              </a:rPr>
              <a:t>(távoli és áthallás ellen)</a:t>
            </a:r>
            <a:endParaRPr lang="hu-HU" altLang="hu-HU" sz="4800" dirty="0">
              <a:solidFill>
                <a:srgbClr val="006600"/>
              </a:solidFill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solidFill>
                  <a:srgbClr val="006600"/>
                </a:solidFill>
                <a:latin typeface="Verdana" panose="020B0604030504040204" pitchFamily="34" charset="0"/>
              </a:rPr>
              <a:t>Csavart érpár árnyékolással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solidFill>
                  <a:srgbClr val="FF3300"/>
                </a:solidFill>
                <a:latin typeface="Verdana" panose="020B0604030504040204" pitchFamily="34" charset="0"/>
              </a:rPr>
              <a:t>Mandala kábel</a:t>
            </a:r>
            <a:endParaRPr lang="hu-HU" altLang="hu-HU" sz="4800" dirty="0">
              <a:solidFill>
                <a:srgbClr val="006600"/>
              </a:solidFill>
              <a:latin typeface="Verdana" panose="020B0604030504040204" pitchFamily="34" charset="0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endParaRPr lang="hu-HU" altLang="hu-HU" sz="4400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7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7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7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7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zövegdoboz 3">
            <a:extLst>
              <a:ext uri="{FF2B5EF4-FFF2-40B4-BE49-F238E27FC236}">
                <a16:creationId xmlns:a16="http://schemas.microsoft.com/office/drawing/2014/main" id="{CDFCD9EA-A55E-46AD-B7E9-93E816444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247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Ethernet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Verdana" panose="020B0604030504040204" pitchFamily="34" charset="0"/>
              </a:rPr>
              <a:t>Vezető (réz) közeg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10Mb/s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100Mb/s (</a:t>
            </a:r>
            <a:r>
              <a:rPr lang="hu-HU" altLang="hu-HU" sz="4400" dirty="0" err="1">
                <a:latin typeface="Verdana" panose="020B0604030504040204" pitchFamily="34" charset="0"/>
              </a:rPr>
              <a:t>FastEthernet</a:t>
            </a:r>
            <a:r>
              <a:rPr lang="hu-HU" altLang="hu-HU" sz="4400" dirty="0">
                <a:latin typeface="Verdana" panose="020B0604030504040204" pitchFamily="34" charset="0"/>
              </a:rPr>
              <a:t>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1000Mb/s (GigabitEthernet)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Borul a szabvány </a:t>
            </a:r>
            <a:r>
              <a:rPr lang="hu-HU" altLang="hu-HU" sz="2800" dirty="0">
                <a:latin typeface="Verdana" panose="020B0604030504040204" pitchFamily="34" charset="0"/>
              </a:rPr>
              <a:t>(hatótáv, vagy bekötés)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10Gb/s (10GEthernet)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Lényegében használhatatlan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solidFill>
                  <a:srgbClr val="006600"/>
                </a:solidFill>
                <a:latin typeface="Verdana" panose="020B0604030504040204" pitchFamily="34" charset="0"/>
              </a:rPr>
              <a:t>Optikai szál!!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CA8FE-CB83-ACD8-5417-36EB5BFBD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zövegdoboz 3">
            <a:extLst>
              <a:ext uri="{FF2B5EF4-FFF2-40B4-BE49-F238E27FC236}">
                <a16:creationId xmlns:a16="http://schemas.microsoft.com/office/drawing/2014/main" id="{F80781C9-37C8-96A9-707A-3441E8D94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5400" dirty="0">
                <a:latin typeface="Verdana" panose="020B0604030504040204" pitchFamily="34" charset="0"/>
              </a:rPr>
              <a:t>W&amp;WL Network 4. rész</a:t>
            </a:r>
            <a:endParaRPr lang="hu-HU" altLang="hu-HU" sz="40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1121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zövegdoboz 3">
            <a:extLst>
              <a:ext uri="{FF2B5EF4-FFF2-40B4-BE49-F238E27FC236}">
                <a16:creationId xmlns:a16="http://schemas.microsoft.com/office/drawing/2014/main" id="{E0ED7BCB-E434-490B-8231-B5FA6939A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9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solidFill>
                  <a:srgbClr val="006600"/>
                </a:solidFill>
                <a:latin typeface="Verdana" panose="020B0604030504040204" pitchFamily="34" charset="0"/>
              </a:rPr>
              <a:t>Optikai szál</a:t>
            </a:r>
            <a:endParaRPr lang="hu-HU" altLang="hu-HU" sz="4400" dirty="0">
              <a:solidFill>
                <a:srgbClr val="006600"/>
              </a:solidFill>
              <a:latin typeface="Arial" panose="020B0604020202020204" pitchFamily="34" charset="0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Nagyobb vivő frekvencia </a:t>
            </a:r>
            <a:r>
              <a:rPr lang="hu-HU" altLang="hu-HU" sz="3200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hu-HU" altLang="hu-HU" sz="3200" dirty="0">
                <a:latin typeface="Arial" panose="020B0604020202020204" pitchFamily="34" charset="0"/>
              </a:rPr>
              <a:t> sávszéleség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Olcsó közeg, de drága csatlakozók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Szinte zajmentes megoldás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Arial" panose="020B0604020202020204" pitchFamily="34" charset="0"/>
              </a:rPr>
              <a:t>MULTI MÓDUSÚ („vastag”)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Lapos szögű visszaverődések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Kicsi csillapítás (1~10 km)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Hullámhossz multiplex (különféle színű vivők)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Arial" panose="020B0604020202020204" pitchFamily="34" charset="0"/>
              </a:rPr>
              <a:t>MONO MÓDUSÚ („vékony”)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Visszaverődésmentesen „siklik” benne a fény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Elhanyagolható csillapítás (100~1000 km)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01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01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01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01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zövegdoboz 3">
            <a:extLst>
              <a:ext uri="{FF2B5EF4-FFF2-40B4-BE49-F238E27FC236}">
                <a16:creationId xmlns:a16="http://schemas.microsoft.com/office/drawing/2014/main" id="{0F976CA4-B036-45F5-9EE3-193F5F252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9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Rádióhullám (pl.: WiFi)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11 </a:t>
            </a:r>
            <a:r>
              <a:rPr lang="hu-HU" altLang="hu-HU" sz="4000" dirty="0" err="1">
                <a:latin typeface="Verdana" panose="020B0604030504040204" pitchFamily="34" charset="0"/>
              </a:rPr>
              <a:t>Mb</a:t>
            </a:r>
            <a:r>
              <a:rPr lang="hu-HU" altLang="hu-HU" sz="4000" dirty="0">
                <a:latin typeface="Verdana" panose="020B0604030504040204" pitchFamily="34" charset="0"/>
              </a:rPr>
              <a:t>/s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22 </a:t>
            </a:r>
            <a:r>
              <a:rPr lang="hu-HU" altLang="hu-HU" sz="4000" dirty="0" err="1">
                <a:latin typeface="Verdana" panose="020B0604030504040204" pitchFamily="34" charset="0"/>
              </a:rPr>
              <a:t>Mb</a:t>
            </a:r>
            <a:r>
              <a:rPr lang="hu-HU" altLang="hu-HU" sz="4000" dirty="0">
                <a:latin typeface="Verdana" panose="020B0604030504040204" pitchFamily="34" charset="0"/>
              </a:rPr>
              <a:t>/s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54 </a:t>
            </a:r>
            <a:r>
              <a:rPr lang="hu-HU" altLang="hu-HU" sz="4000" dirty="0" err="1">
                <a:latin typeface="Verdana" panose="020B0604030504040204" pitchFamily="34" charset="0"/>
              </a:rPr>
              <a:t>Mbps</a:t>
            </a:r>
            <a:endParaRPr lang="hu-HU" altLang="hu-HU" sz="40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300 </a:t>
            </a:r>
            <a:r>
              <a:rPr lang="hu-HU" altLang="hu-HU" sz="4000" dirty="0" err="1">
                <a:latin typeface="Verdana" panose="020B0604030504040204" pitchFamily="34" charset="0"/>
              </a:rPr>
              <a:t>Mbps</a:t>
            </a:r>
            <a:endParaRPr lang="hu-HU" altLang="hu-HU" sz="40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 dirty="0" err="1">
                <a:latin typeface="Verdana" panose="020B0604030504040204" pitchFamily="34" charset="0"/>
              </a:rPr>
              <a:t>Half</a:t>
            </a:r>
            <a:r>
              <a:rPr lang="hu-HU" altLang="hu-HU" sz="4400" b="1" dirty="0">
                <a:latin typeface="Verdana" panose="020B0604030504040204" pitchFamily="34" charset="0"/>
              </a:rPr>
              <a:t> duplex!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Topológiája lényegében BUSZ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600" dirty="0">
                <a:latin typeface="Verdana" panose="020B0604030504040204" pitchFamily="34" charset="0"/>
              </a:rPr>
              <a:t>(osztozás a névleges sávszélességen)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Vivő jel kb. </a:t>
            </a:r>
            <a:r>
              <a:rPr lang="hu-HU" altLang="hu-HU" sz="4400" b="1" dirty="0">
                <a:latin typeface="Verdana" panose="020B0604030504040204" pitchFamily="34" charset="0"/>
              </a:rPr>
              <a:t>2,4</a:t>
            </a:r>
            <a:r>
              <a:rPr lang="hu-HU" altLang="hu-HU" sz="4400" dirty="0">
                <a:latin typeface="Verdana" panose="020B0604030504040204" pitchFamily="34" charset="0"/>
              </a:rPr>
              <a:t> </a:t>
            </a:r>
            <a:r>
              <a:rPr lang="hu-HU" altLang="hu-HU" sz="4400" dirty="0" err="1">
                <a:latin typeface="Verdana" panose="020B0604030504040204" pitchFamily="34" charset="0"/>
              </a:rPr>
              <a:t>GHz</a:t>
            </a:r>
            <a:r>
              <a:rPr lang="hu-HU" altLang="hu-HU" sz="4400" dirty="0">
                <a:latin typeface="Verdana" panose="020B0604030504040204" pitchFamily="34" charset="0"/>
              </a:rPr>
              <a:t> (majd 5 </a:t>
            </a:r>
            <a:r>
              <a:rPr lang="hu-HU" altLang="hu-HU" sz="4400" dirty="0" err="1">
                <a:latin typeface="Verdana" panose="020B0604030504040204" pitchFamily="34" charset="0"/>
              </a:rPr>
              <a:t>GHz</a:t>
            </a:r>
            <a:r>
              <a:rPr lang="hu-HU" altLang="hu-HU" sz="4400" dirty="0">
                <a:latin typeface="Verdana" panose="020B0604030504040204" pitchFamily="34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zövegdoboz 3">
            <a:extLst>
              <a:ext uri="{FF2B5EF4-FFF2-40B4-BE49-F238E27FC236}">
                <a16:creationId xmlns:a16="http://schemas.microsoft.com/office/drawing/2014/main" id="{678BC294-6B50-4142-8140-169287ADB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39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Fény (pl.: LiFi)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Infrastruktúra: LED-es világítás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>
                <a:latin typeface="Verdana" panose="020B0604030504040204" pitchFamily="34" charset="0"/>
              </a:rPr>
              <a:t>Nagy tempó nem érhető el (drótok)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Laboratóriumi teljesítmélny 220+ Gbps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>
                <a:latin typeface="Verdana" panose="020B0604030504040204" pitchFamily="34" charset="0"/>
              </a:rPr>
              <a:t>Kereskedelmi forgalomban 20-50 Mbps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>
                <a:latin typeface="Verdana" panose="020B0604030504040204" pitchFamily="34" charset="0"/>
              </a:rPr>
              <a:t>Kísérleti irodaházban ~100 Mbps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Simplex broadcast hálózat </a:t>
            </a:r>
            <a:r>
              <a:rPr lang="hu-HU" altLang="hu-HU" sz="4000">
                <a:latin typeface="Verdana" panose="020B0604030504040204" pitchFamily="34" charset="0"/>
                <a:sym typeface="Wingdings" panose="05000000000000000000" pitchFamily="2" charset="2"/>
              </a:rPr>
              <a:t></a:t>
            </a:r>
            <a:endParaRPr lang="hu-HU" altLang="hu-HU" sz="3600">
              <a:latin typeface="Verdana" panose="020B0604030504040204" pitchFamily="34" charset="0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>
                <a:latin typeface="Verdana" panose="020B0604030504040204" pitchFamily="34" charset="0"/>
              </a:rPr>
              <a:t>Akár közvilágításon keresztül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Duplexitáshoz vissza irány?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zövegdoboz 3">
            <a:extLst>
              <a:ext uri="{FF2B5EF4-FFF2-40B4-BE49-F238E27FC236}">
                <a16:creationId xmlns:a16="http://schemas.microsoft.com/office/drawing/2014/main" id="{1D656FB7-D34A-4163-A0F3-25AEF17AE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IP – Internet Protocoll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Kapcsolatmentes (csomagkapcsolt)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Minden csomag számára önálló út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TCP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Párbeszéd alapú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Tranzakciós jelleg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UDP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Unidirectional – nincs nyugtázás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Stream jelleg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7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7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7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7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7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7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7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7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7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7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7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zövegdoboz 3">
            <a:extLst>
              <a:ext uri="{FF2B5EF4-FFF2-40B4-BE49-F238E27FC236}">
                <a16:creationId xmlns:a16="http://schemas.microsoft.com/office/drawing/2014/main" id="{4214E6F2-F221-4CE7-8FCF-7870EC0FD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DHCP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Statikus állomás-beállítás helyett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Automatizált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Mobilitást támogatja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Új beállítás gyors konvergenciája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Támadható!!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DNS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Címkonverzió „emberi” – gépi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Ez is támadható!!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4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4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4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4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4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4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44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4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44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44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zövegdoboz 3">
            <a:extLst>
              <a:ext uri="{FF2B5EF4-FFF2-40B4-BE49-F238E27FC236}">
                <a16:creationId xmlns:a16="http://schemas.microsoft.com/office/drawing/2014/main" id="{1737884D-9AA7-4CD4-B722-94D092FF4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5400" dirty="0">
                <a:latin typeface="Verdana" panose="020B0604030504040204" pitchFamily="34" charset="0"/>
              </a:rPr>
              <a:t>5. rész</a:t>
            </a:r>
          </a:p>
        </p:txBody>
      </p:sp>
    </p:spTree>
    <p:extLst>
      <p:ext uri="{BB962C8B-B14F-4D97-AF65-F5344CB8AC3E}">
        <p14:creationId xmlns:p14="http://schemas.microsoft.com/office/powerpoint/2010/main" val="4094224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zövegdoboz 3">
            <a:extLst>
              <a:ext uri="{FF2B5EF4-FFF2-40B4-BE49-F238E27FC236}">
                <a16:creationId xmlns:a16="http://schemas.microsoft.com/office/drawing/2014/main" id="{F8552D6F-ECA2-48B7-B954-ED852A2B4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18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Irányító protokollok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Statikus konfigurálás helyett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Szomszédok tanulnak egymástól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Többféle adat között prioritás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IGP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RIP (RIP v2) </a:t>
            </a:r>
            <a:r>
              <a:rPr lang="hu-HU" altLang="hu-HU" sz="2400" dirty="0">
                <a:latin typeface="Verdana" panose="020B0604030504040204" pitchFamily="34" charset="0"/>
              </a:rPr>
              <a:t>(pletykafészek </a:t>
            </a:r>
            <a:r>
              <a:rPr lang="hu-HU" altLang="hu-HU" sz="2400" dirty="0">
                <a:latin typeface="Verdana" panose="020B0604030504040204" pitchFamily="34" charset="0"/>
                <a:sym typeface="Wingdings" panose="05000000000000000000" pitchFamily="2" charset="2"/>
              </a:rPr>
              <a:t>)</a:t>
            </a:r>
            <a:endParaRPr lang="hu-HU" altLang="hu-HU" sz="2400" dirty="0">
              <a:latin typeface="Verdana" panose="020B0604030504040204" pitchFamily="34" charset="0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OSPF </a:t>
            </a:r>
            <a:r>
              <a:rPr lang="hu-HU" altLang="hu-HU" sz="2400" dirty="0">
                <a:latin typeface="Verdana" panose="020B0604030504040204" pitchFamily="34" charset="0"/>
              </a:rPr>
              <a:t>(nyílt)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EIGRP </a:t>
            </a:r>
            <a:r>
              <a:rPr lang="hu-HU" altLang="hu-HU" sz="2400" dirty="0">
                <a:latin typeface="Verdana" panose="020B0604030504040204" pitchFamily="34" charset="0"/>
              </a:rPr>
              <a:t>(CISCO)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EGP – BGP </a:t>
            </a:r>
            <a:r>
              <a:rPr lang="hu-HU" altLang="hu-HU" dirty="0">
                <a:latin typeface="Verdana" panose="020B0604030504040204" pitchFamily="34" charset="0"/>
              </a:rPr>
              <a:t>(„AS </a:t>
            </a:r>
            <a:r>
              <a:rPr lang="hu-HU" altLang="hu-HU" dirty="0" err="1">
                <a:latin typeface="Verdana" panose="020B0604030504040204" pitchFamily="34" charset="0"/>
              </a:rPr>
              <a:t>number</a:t>
            </a:r>
            <a:r>
              <a:rPr lang="hu-HU" altLang="hu-HU" dirty="0">
                <a:latin typeface="Verdana" panose="020B0604030504040204" pitchFamily="34" charset="0"/>
              </a:rPr>
              <a:t>” alapján irányít)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1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1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1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1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16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16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1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1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zövegdoboz 3">
            <a:extLst>
              <a:ext uri="{FF2B5EF4-FFF2-40B4-BE49-F238E27FC236}">
                <a16:creationId xmlns:a16="http://schemas.microsoft.com/office/drawing/2014/main" id="{D3D2B2E0-87A4-4431-B34C-D02ECD0A2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18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ICMP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PING &lt;host&gt;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Kapcsolat megléte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Mindkét irányt egyszerre vizsgálja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Oda-vissza útidő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TRACEROUTE &lt;host&gt; (Tracert)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Kapcsolat csomópontjait térképezi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TTL segítségével limitáljuk az ugrásokat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8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8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87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87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87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87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zövegdoboz 3">
            <a:extLst>
              <a:ext uri="{FF2B5EF4-FFF2-40B4-BE49-F238E27FC236}">
                <a16:creationId xmlns:a16="http://schemas.microsoft.com/office/drawing/2014/main" id="{76926447-A600-4566-A87C-D150EBD22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18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ICMP </a:t>
            </a:r>
            <a:r>
              <a:rPr lang="hu-HU" altLang="hu-HU" sz="4400" dirty="0" err="1">
                <a:latin typeface="Verdana" panose="020B0604030504040204" pitchFamily="34" charset="0"/>
              </a:rPr>
              <a:t>tipusok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 0  </a:t>
            </a:r>
            <a:r>
              <a:rPr lang="hu-HU" altLang="hu-HU" sz="3200" dirty="0" err="1">
                <a:latin typeface="Verdana" panose="020B0604030504040204" pitchFamily="34" charset="0"/>
              </a:rPr>
              <a:t>Echo</a:t>
            </a:r>
            <a:r>
              <a:rPr lang="hu-HU" altLang="hu-HU" sz="3200" dirty="0">
                <a:latin typeface="Verdana" panose="020B0604030504040204" pitchFamily="34" charset="0"/>
              </a:rPr>
              <a:t> </a:t>
            </a:r>
            <a:r>
              <a:rPr lang="hu-HU" altLang="hu-HU" sz="3200" dirty="0" err="1">
                <a:latin typeface="Verdana" panose="020B0604030504040204" pitchFamily="34" charset="0"/>
              </a:rPr>
              <a:t>Reply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 3  </a:t>
            </a:r>
            <a:r>
              <a:rPr lang="hu-HU" altLang="hu-HU" sz="3200" dirty="0" err="1">
                <a:latin typeface="Verdana" panose="020B0604030504040204" pitchFamily="34" charset="0"/>
              </a:rPr>
              <a:t>Destination</a:t>
            </a:r>
            <a:r>
              <a:rPr lang="hu-HU" altLang="hu-HU" sz="3200" dirty="0">
                <a:latin typeface="Verdana" panose="020B0604030504040204" pitchFamily="34" charset="0"/>
              </a:rPr>
              <a:t> </a:t>
            </a:r>
            <a:r>
              <a:rPr lang="hu-HU" altLang="hu-HU" sz="3200" dirty="0" err="1">
                <a:latin typeface="Verdana" panose="020B0604030504040204" pitchFamily="34" charset="0"/>
              </a:rPr>
              <a:t>Unreachable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 4  </a:t>
            </a:r>
            <a:r>
              <a:rPr lang="hu-HU" altLang="hu-HU" sz="3200" dirty="0" err="1">
                <a:latin typeface="Verdana" panose="020B0604030504040204" pitchFamily="34" charset="0"/>
              </a:rPr>
              <a:t>Source</a:t>
            </a:r>
            <a:r>
              <a:rPr lang="hu-HU" altLang="hu-HU" sz="3200" dirty="0">
                <a:latin typeface="Verdana" panose="020B0604030504040204" pitchFamily="34" charset="0"/>
              </a:rPr>
              <a:t> </a:t>
            </a:r>
            <a:r>
              <a:rPr lang="hu-HU" altLang="hu-HU" sz="3200" dirty="0" err="1">
                <a:latin typeface="Verdana" panose="020B0604030504040204" pitchFamily="34" charset="0"/>
              </a:rPr>
              <a:t>Quench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 5  </a:t>
            </a:r>
            <a:r>
              <a:rPr lang="hu-HU" altLang="hu-HU" sz="3200" dirty="0" err="1">
                <a:latin typeface="Verdana" panose="020B0604030504040204" pitchFamily="34" charset="0"/>
              </a:rPr>
              <a:t>Redirect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 8  </a:t>
            </a:r>
            <a:r>
              <a:rPr lang="hu-HU" altLang="hu-HU" sz="3200" dirty="0" err="1">
                <a:latin typeface="Verdana" panose="020B0604030504040204" pitchFamily="34" charset="0"/>
              </a:rPr>
              <a:t>Echo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11  Time </a:t>
            </a:r>
            <a:r>
              <a:rPr lang="hu-HU" altLang="hu-HU" sz="3200" dirty="0" err="1">
                <a:latin typeface="Verdana" panose="020B0604030504040204" pitchFamily="34" charset="0"/>
              </a:rPr>
              <a:t>Exceeded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12  </a:t>
            </a:r>
            <a:r>
              <a:rPr lang="hu-HU" altLang="hu-HU" sz="3200" dirty="0" err="1">
                <a:latin typeface="Verdana" panose="020B0604030504040204" pitchFamily="34" charset="0"/>
              </a:rPr>
              <a:t>Parameter</a:t>
            </a:r>
            <a:r>
              <a:rPr lang="hu-HU" altLang="hu-HU" sz="3200" dirty="0">
                <a:latin typeface="Verdana" panose="020B0604030504040204" pitchFamily="34" charset="0"/>
              </a:rPr>
              <a:t> </a:t>
            </a:r>
            <a:r>
              <a:rPr lang="hu-HU" altLang="hu-HU" sz="3200" dirty="0" err="1">
                <a:latin typeface="Verdana" panose="020B0604030504040204" pitchFamily="34" charset="0"/>
              </a:rPr>
              <a:t>Problem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13  </a:t>
            </a:r>
            <a:r>
              <a:rPr lang="hu-HU" altLang="hu-HU" sz="3200" dirty="0" err="1">
                <a:latin typeface="Verdana" panose="020B0604030504040204" pitchFamily="34" charset="0"/>
              </a:rPr>
              <a:t>Timestamp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14  </a:t>
            </a:r>
            <a:r>
              <a:rPr lang="hu-HU" altLang="hu-HU" sz="3200" dirty="0" err="1">
                <a:latin typeface="Verdana" panose="020B0604030504040204" pitchFamily="34" charset="0"/>
              </a:rPr>
              <a:t>Timestamp</a:t>
            </a:r>
            <a:r>
              <a:rPr lang="hu-HU" altLang="hu-HU" sz="3200" dirty="0">
                <a:latin typeface="Verdana" panose="020B0604030504040204" pitchFamily="34" charset="0"/>
              </a:rPr>
              <a:t> </a:t>
            </a:r>
            <a:r>
              <a:rPr lang="hu-HU" altLang="hu-HU" sz="3200" dirty="0" err="1">
                <a:latin typeface="Verdana" panose="020B0604030504040204" pitchFamily="34" charset="0"/>
              </a:rPr>
              <a:t>Reply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15  </a:t>
            </a:r>
            <a:r>
              <a:rPr lang="hu-HU" altLang="hu-HU" sz="3200" dirty="0" err="1">
                <a:latin typeface="Verdana" panose="020B0604030504040204" pitchFamily="34" charset="0"/>
              </a:rPr>
              <a:t>Information</a:t>
            </a:r>
            <a:r>
              <a:rPr lang="hu-HU" altLang="hu-HU" sz="3200" dirty="0">
                <a:latin typeface="Verdana" panose="020B0604030504040204" pitchFamily="34" charset="0"/>
              </a:rPr>
              <a:t> </a:t>
            </a:r>
            <a:r>
              <a:rPr lang="hu-HU" altLang="hu-HU" sz="3200" dirty="0" err="1">
                <a:latin typeface="Verdana" panose="020B0604030504040204" pitchFamily="34" charset="0"/>
              </a:rPr>
              <a:t>Request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16  </a:t>
            </a:r>
            <a:r>
              <a:rPr lang="hu-HU" altLang="hu-HU" sz="3200" dirty="0" err="1">
                <a:latin typeface="Verdana" panose="020B0604030504040204" pitchFamily="34" charset="0"/>
              </a:rPr>
              <a:t>Information</a:t>
            </a:r>
            <a:r>
              <a:rPr lang="hu-HU" altLang="hu-HU" sz="3200" dirty="0">
                <a:latin typeface="Verdana" panose="020B0604030504040204" pitchFamily="34" charset="0"/>
              </a:rPr>
              <a:t> </a:t>
            </a:r>
            <a:r>
              <a:rPr lang="hu-HU" altLang="hu-HU" sz="3200" dirty="0" err="1">
                <a:latin typeface="Verdana" panose="020B0604030504040204" pitchFamily="34" charset="0"/>
              </a:rPr>
              <a:t>Reply</a:t>
            </a:r>
            <a:endParaRPr lang="hu-HU" altLang="hu-HU" sz="32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zövegdoboz 3">
            <a:extLst>
              <a:ext uri="{FF2B5EF4-FFF2-40B4-BE49-F238E27FC236}">
                <a16:creationId xmlns:a16="http://schemas.microsoft.com/office/drawing/2014/main" id="{A307AF51-07DF-4DFF-BC8A-4BAA56357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43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Domain név rendszer 1.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hu-HU" altLang="hu-HU" sz="4000" dirty="0">
                <a:latin typeface="Verdana" panose="020B0604030504040204" pitchFamily="34" charset="0"/>
              </a:rPr>
              <a:t>NIC – TLD nyilvántartója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hu-HU" altLang="hu-HU" sz="4000" dirty="0" err="1">
                <a:latin typeface="Verdana" panose="020B0604030504040204" pitchFamily="34" charset="0"/>
              </a:rPr>
              <a:t>Regisztrátorok</a:t>
            </a:r>
            <a:endParaRPr lang="hu-HU" altLang="hu-HU" sz="40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 panose="020B0604030504040204" pitchFamily="34" charset="0"/>
              </a:rPr>
              <a:t>Limitált karakterek (</a:t>
            </a:r>
            <a:r>
              <a:rPr lang="hu-HU" altLang="hu-HU" sz="3600" dirty="0" err="1">
                <a:latin typeface="Verdana" panose="020B0604030504040204" pitchFamily="34" charset="0"/>
              </a:rPr>
              <a:t>a..z</a:t>
            </a:r>
            <a:r>
              <a:rPr lang="hu-HU" altLang="hu-HU" sz="3600" dirty="0">
                <a:latin typeface="Verdana" panose="020B0604030504040204" pitchFamily="34" charset="0"/>
              </a:rPr>
              <a:t> _ 0..9 -)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 panose="020B0604030504040204" pitchFamily="34" charset="0"/>
              </a:rPr>
              <a:t>Speciális kódolás ékezetekhez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 panose="020B0604030504040204" pitchFamily="34" charset="0"/>
              </a:rPr>
              <a:t>Prioritásos név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hu-HU" altLang="hu-HU" sz="3200" dirty="0">
                <a:latin typeface="Verdana" panose="020B0604030504040204" pitchFamily="34" charset="0"/>
              </a:rPr>
              <a:t>Város, cég, védjegy stb.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 panose="020B0604030504040204" pitchFamily="34" charset="0"/>
              </a:rPr>
              <a:t>Várólistás név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hu-HU" altLang="hu-HU" sz="3200" dirty="0">
                <a:latin typeface="Verdana" panose="020B0604030504040204" pitchFamily="34" charset="0"/>
              </a:rPr>
              <a:t>2 hét várakozás, prioritás beelőzi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 panose="020B0604030504040204" pitchFamily="34" charset="0"/>
              </a:rPr>
              <a:t>Tiltott név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hu-HU" altLang="hu-HU" sz="3200" dirty="0">
                <a:latin typeface="Verdana" panose="020B0604030504040204" pitchFamily="34" charset="0"/>
              </a:rPr>
              <a:t>Megbotránkoztató, aránytalan előny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zövegdoboz 3">
            <a:extLst>
              <a:ext uri="{FF2B5EF4-FFF2-40B4-BE49-F238E27FC236}">
                <a16:creationId xmlns:a16="http://schemas.microsoft.com/office/drawing/2014/main" id="{4ACB2FB8-3EBC-4BB7-9476-1F3213F87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18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Domain név rendszer 2.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Regisztrációs díj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NIC és </a:t>
            </a:r>
            <a:r>
              <a:rPr lang="hu-HU" altLang="hu-HU" sz="4400" dirty="0" err="1">
                <a:latin typeface="Verdana" panose="020B0604030504040204" pitchFamily="34" charset="0"/>
              </a:rPr>
              <a:t>regisztrátor</a:t>
            </a:r>
            <a:r>
              <a:rPr lang="hu-HU" altLang="hu-HU" sz="4400" dirty="0">
                <a:latin typeface="Verdana" panose="020B0604030504040204" pitchFamily="34" charset="0"/>
              </a:rPr>
              <a:t> megosztják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Fenntartási díj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Éves (</a:t>
            </a:r>
            <a:r>
              <a:rPr lang="hu-HU" altLang="hu-HU" sz="4400" dirty="0" err="1">
                <a:latin typeface="Verdana" panose="020B0604030504040204" pitchFamily="34" charset="0"/>
              </a:rPr>
              <a:t>reg</a:t>
            </a:r>
            <a:r>
              <a:rPr lang="hu-HU" altLang="hu-HU" sz="4400" dirty="0">
                <a:latin typeface="Verdana" panose="020B0604030504040204" pitchFamily="34" charset="0"/>
              </a:rPr>
              <a:t>)díj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Zónakarbantartás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NS1 és NS2 szolgáltatások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Regisztráció előtt meg kell legyen a zóna és az NS-</a:t>
            </a:r>
            <a:r>
              <a:rPr lang="hu-HU" altLang="hu-HU" sz="4400" dirty="0" err="1">
                <a:latin typeface="Verdana" panose="020B0604030504040204" pitchFamily="34" charset="0"/>
              </a:rPr>
              <a:t>ek</a:t>
            </a:r>
            <a:r>
              <a:rPr lang="hu-HU" altLang="hu-HU" sz="4400" dirty="0">
                <a:latin typeface="Verdana" panose="020B0604030504040204" pitchFamily="34" charset="0"/>
              </a:rPr>
              <a:t>!! NIC ellenőrzi.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2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2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2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2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2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2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20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20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zövegdoboz 3">
            <a:extLst>
              <a:ext uri="{FF2B5EF4-FFF2-40B4-BE49-F238E27FC236}">
                <a16:creationId xmlns:a16="http://schemas.microsoft.com/office/drawing/2014/main" id="{DC7DFA8C-CCF1-4957-AD1A-A5EB78007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45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DHCP hamisítás, újabb védelem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Legtöbb módszer csak észleli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Riasztást tud küldeni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Beavatkozni nem képes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Kapcsolók új szolgáltatása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DHCP snooping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Blokkolja a DHCP válaszokat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Csak megbízható portról továbbít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6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6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6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6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6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6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6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6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6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6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6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zövegdoboz 3">
            <a:extLst>
              <a:ext uri="{FF2B5EF4-FFF2-40B4-BE49-F238E27FC236}">
                <a16:creationId xmlns:a16="http://schemas.microsoft.com/office/drawing/2014/main" id="{36A19200-C156-43E4-BB56-037924681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Takarékosságból új technológia: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 dirty="0">
                <a:latin typeface="Verdana" panose="020B0604030504040204" pitchFamily="34" charset="0"/>
              </a:rPr>
              <a:t>VLAN</a:t>
            </a:r>
            <a:r>
              <a:rPr lang="hu-HU" altLang="hu-HU" sz="4400" dirty="0">
                <a:latin typeface="Verdana" panose="020B0604030504040204" pitchFamily="34" charset="0"/>
              </a:rPr>
              <a:t> (Virtuális LAN)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Két független fizikai hálózat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Biztonságos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Rosszul skálázható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Egy fizikai, több logikai hálózat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Költségtakarékos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Jobban skálázható</a:t>
            </a:r>
          </a:p>
        </p:txBody>
      </p:sp>
      <p:sp>
        <p:nvSpPr>
          <p:cNvPr id="147459" name="Szövegdoboz 3">
            <a:extLst>
              <a:ext uri="{FF2B5EF4-FFF2-40B4-BE49-F238E27FC236}">
                <a16:creationId xmlns:a16="http://schemas.microsoft.com/office/drawing/2014/main" id="{2B6412CD-73D4-4170-8754-4517CCD48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525" y="2492375"/>
            <a:ext cx="52625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Költséges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7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7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7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7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7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7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7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7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7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7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zövegdoboz 3">
            <a:extLst>
              <a:ext uri="{FF2B5EF4-FFF2-40B4-BE49-F238E27FC236}">
                <a16:creationId xmlns:a16="http://schemas.microsoft.com/office/drawing/2014/main" id="{20592C83-5F8E-4178-B112-FDFC91EC5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>
                <a:latin typeface="Verdana" panose="020B0604030504040204" pitchFamily="34" charset="0"/>
              </a:rPr>
              <a:t>VLAN</a:t>
            </a:r>
            <a:r>
              <a:rPr lang="hu-HU" altLang="hu-HU" sz="4400">
                <a:latin typeface="Verdana" panose="020B0604030504040204" pitchFamily="34" charset="0"/>
              </a:rPr>
              <a:t> (Virtuális LAN)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Kapcsoló portjait VLAN-hoz rendeljük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Azonos VLAN egy virtuális kapcsoló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Nincs átjárás 2 VLAN között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Gerincvonal (TRUNK) hozható létre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2 vagy több VLAN közös vonalon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Logikailag több virtuális vezeték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Külön VLAN külön alhálózat és címtér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Forgalomirányítóval összekapcsolhatók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0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0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0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0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0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0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0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0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0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0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2716</TotalTime>
  <Words>1647</Words>
  <Application>Microsoft Office PowerPoint</Application>
  <PresentationFormat>Szélesvásznú</PresentationFormat>
  <Paragraphs>382</Paragraphs>
  <Slides>45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45</vt:i4>
      </vt:variant>
    </vt:vector>
  </HeadingPairs>
  <TitlesOfParts>
    <vt:vector size="52" baseType="lpstr">
      <vt:lpstr>Arial</vt:lpstr>
      <vt:lpstr>Calibri</vt:lpstr>
      <vt:lpstr>Calibri Light</vt:lpstr>
      <vt:lpstr>Times New Roman</vt:lpstr>
      <vt:lpstr>Verdana</vt:lpstr>
      <vt:lpstr>Wingdings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Diak</dc:creator>
  <cp:lastModifiedBy>Frangepán Előadó</cp:lastModifiedBy>
  <cp:revision>601</cp:revision>
  <dcterms:created xsi:type="dcterms:W3CDTF">2017-02-16T10:21:01Z</dcterms:created>
  <dcterms:modified xsi:type="dcterms:W3CDTF">2026-03-12T07:26:55Z</dcterms:modified>
</cp:coreProperties>
</file>